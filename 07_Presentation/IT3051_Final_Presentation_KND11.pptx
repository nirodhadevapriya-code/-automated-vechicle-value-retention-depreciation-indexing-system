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accuracy</c:v>
                </c:pt>
              </c:strCache>
            </c:strRef>
          </c:tx>
          <c:spPr>
            <a:solidFill>
              <a:srgbClr val="2F6BFF"/>
            </a:solidFill>
            <a:effectLst/>
          </c:spPr>
          <c:invertIfNegative val="0"/>
          <c:dLbls>
            <c:numFmt formatCode="0&quot;%&quot;" sourceLinked="0"/>
            <c:txPr>
              <a:bodyPr/>
              <a:lstStyle/>
              <a:p>
                <a:pPr>
                  <a:defRPr b="0" i="0" strike="noStrike" sz="14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2F6BFF"/>
              </a:solidFill>
              <a:effectLst/>
            </c:spPr>
          </c:dPt>
          <c:dPt>
            <c:idx val="1"/>
            <c:invertIfNegative val="0"/>
            <c:bubble3D val="0"/>
            <c:spPr>
              <a:solidFill>
                <a:srgbClr val="2F6BFF"/>
              </a:solidFill>
              <a:effectLst/>
            </c:spPr>
          </c:dPt>
          <c:dPt>
            <c:idx val="2"/>
            <c:invertIfNegative val="0"/>
            <c:bubble3D val="0"/>
            <c:spPr>
              <a:solidFill>
                <a:srgbClr val="2F6BFF"/>
              </a:solidFill>
              <a:effectLst/>
            </c:spPr>
          </c:dPt>
          <c:dPt>
            <c:idx val="3"/>
            <c:invertIfNegative val="0"/>
            <c:bubble3D val="0"/>
            <c:spPr>
              <a:solidFill>
                <a:srgbClr val="9DB8FF"/>
              </a:solidFill>
              <a:effectLst/>
            </c:spPr>
          </c:dPt>
          <c:dPt>
            <c:idx val="4"/>
            <c:invertIfNegative val="0"/>
            <c:bubble3D val="0"/>
            <c:spPr>
              <a:solidFill>
                <a:srgbClr val="9DB8FF"/>
              </a:solidFill>
              <a:effectLst/>
            </c:spPr>
          </c:dPt>
          <c:dPt>
            <c:idx val="5"/>
            <c:invertIfNegative val="0"/>
            <c:bubble3D val="0"/>
            <c:spPr>
              <a:solidFill>
                <a:srgbClr val="9DB8FF"/>
              </a:solidFill>
              <a:effectLst/>
            </c:spPr>
          </c:dPt>
          <c:dPt>
            <c:idx val="6"/>
            <c:invertIfNegative val="0"/>
            <c:bubble3D val="0"/>
            <c:spPr>
              <a:solidFill>
                <a:srgbClr val="9DB8FF"/>
              </a:solidFill>
              <a:effectLst/>
            </c:spPr>
          </c:dPt>
          <c:dPt>
            <c:idx val="7"/>
            <c:invertIfNegative val="0"/>
            <c:bubble3D val="0"/>
            <c:spPr>
              <a:solidFill>
                <a:srgbClr val="9DB8FF"/>
              </a:solidFill>
              <a:effectLst/>
            </c:spPr>
          </c:dPt>
          <c:cat>
            <c:multiLvlStrRef>
              <c:f>Sheet1!$A$2:$A$9</c:f>
              <c:multiLvlStrCache>
                <c:ptCount val="8"/>
                <c:lvl>
                  <c:pt idx="0">
                    <c:v>Age</c:v>
                  </c:pt>
                  <c:pt idx="1">
                    <c:v>Airbags</c:v>
                  </c:pt>
                  <c:pt idx="2">
                    <c:v>Engine size</c:v>
                  </c:pt>
                  <c:pt idx="3">
                    <c:v>Gear box</c:v>
                  </c:pt>
                  <c:pt idx="4">
                    <c:v>Turbo</c:v>
                  </c:pt>
                  <c:pt idx="5">
                    <c:v>Body type</c:v>
                  </c:pt>
                  <c:pt idx="6">
                    <c:v>Mileage</c:v>
                  </c:pt>
                  <c:pt idx="7">
                    <c:v>Fuel type</c:v>
                  </c:pt>
                </c:lvl>
              </c:multiLvlStrCache>
            </c:multiLvlStrRef>
          </c:cat>
          <c:val>
            <c:numRef>
              <c:f>Sheet1!$B$2:$B$9</c:f>
              <c:numCache>
                <c:formatCode>General</c:formatCode>
                <c:ptCount val="8"/>
                <c:pt idx="0">
                  <c:v>41.7</c:v>
                </c:pt>
                <c:pt idx="1">
                  <c:v>14.2</c:v>
                </c:pt>
                <c:pt idx="2">
                  <c:v>12.6</c:v>
                </c:pt>
                <c:pt idx="3">
                  <c:v>8.2</c:v>
                </c:pt>
                <c:pt idx="4">
                  <c:v>4</c:v>
                </c:pt>
                <c:pt idx="5">
                  <c:v>3.7</c:v>
                </c:pt>
                <c:pt idx="6">
                  <c:v>3.4</c:v>
                </c:pt>
                <c:pt idx="7">
                  <c:v>3.2</c:v>
                </c:pt>
              </c:numCache>
            </c:numRef>
          </c:val>
        </c:ser>
        <c:dLbls>
          <c:numFmt formatCode="0&quot;%&quot;" sourceLinked="0"/>
          <c:txPr>
            <a:bodyPr/>
            <a:lstStyle/>
            <a:p>
              <a:pPr>
                <a:defRPr b="0" i="0" strike="noStrike" sz="1400" u="none">
                  <a:solidFill>
                    <a:srgbClr val="0B122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0B1220"/>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1220"/>
                </a:solidFill>
                <a:latin typeface="+mn-lt"/>
              </a:defRPr>
            </a:pPr>
            <a:r>
              <a:rPr sz="1500" b="0" i="0" u="none" strike="noStrike">
                <a:solidFill>
                  <a:srgbClr val="0B1220"/>
                </a:solidFill>
                <a:latin typeface="+mn-lt"/>
              </a:rPr>
              <a:t>Median price by age</a:t>
            </a:r>
          </a:p>
        </c:rich>
      </c:tx>
      <c:layout/>
      <c:overlay val="0"/>
    </c:title>
    <c:autoTitleDeleted val="0"/>
    <c:plotArea>
      <c:layout/>
      <c:lineChart>
        <c:varyColors val="0"/>
        <c:ser>
          <c:idx val="0"/>
          <c:order val="0"/>
          <c:tx>
            <c:strRef>
              <c:f>Sheet1!$B$1</c:f>
              <c:strCache>
                <c:ptCount val="1"/>
                <c:pt idx="0">
                  <c:v>All cars</c:v>
                </c:pt>
              </c:strCache>
            </c:strRef>
          </c:tx>
          <c:spPr>
            <a:solidFill>
              <a:srgbClr val="0B1220"/>
            </a:solidFill>
            <a:ln w="38100" cap="flat">
              <a:solidFill>
                <a:srgbClr val="0B12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1220"/>
              </a:solidFill>
              <a:ln w="9525" cap="flat">
                <a:solidFill>
                  <a:srgbClr val="0B1220"/>
                </a:solidFill>
                <a:prstDash val="solid"/>
                <a:round/>
              </a:ln>
              <a:effectLst/>
            </c:spPr>
          </c:marker>
          <c:cat>
            <c:multiLvlStrRef>
              <c:f>Sheet1!$A$2:$A$23</c:f>
              <c:multiLvlStrCache>
                <c:ptCount val="22"/>
                <c:lvl>
                  <c:pt idx="0">
                    <c:v>8</c:v>
                  </c:pt>
                  <c:pt idx="1">
                    <c:v>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pt idx="18">
                    <c:v>26</c:v>
                  </c:pt>
                  <c:pt idx="19">
                    <c:v>27</c:v>
                  </c:pt>
                  <c:pt idx="20">
                    <c:v>28</c:v>
                  </c:pt>
                  <c:pt idx="21">
                    <c:v>29</c:v>
                  </c:pt>
                </c:lvl>
              </c:multiLvlStrCache>
            </c:multiLvlStrRef>
          </c:cat>
          <c:val>
            <c:numRef>
              <c:f>Sheet1!$B$2:$B$23</c:f>
              <c:numCache>
                <c:formatCode>General</c:formatCode>
                <c:ptCount val="22"/>
                <c:pt idx="0">
                  <c:v>37633</c:v>
                </c:pt>
                <c:pt idx="1">
                  <c:v>31361</c:v>
                </c:pt>
                <c:pt idx="2">
                  <c:v>27755</c:v>
                </c:pt>
                <c:pt idx="3">
                  <c:v>19757</c:v>
                </c:pt>
                <c:pt idx="4">
                  <c:v>18660</c:v>
                </c:pt>
                <c:pt idx="5">
                  <c:v>17942</c:v>
                </c:pt>
                <c:pt idx="6">
                  <c:v>17249</c:v>
                </c:pt>
                <c:pt idx="7">
                  <c:v>16778</c:v>
                </c:pt>
                <c:pt idx="8">
                  <c:v>15289</c:v>
                </c:pt>
                <c:pt idx="9">
                  <c:v>13485</c:v>
                </c:pt>
                <c:pt idx="10">
                  <c:v>12854</c:v>
                </c:pt>
                <c:pt idx="11">
                  <c:v>11604</c:v>
                </c:pt>
                <c:pt idx="12">
                  <c:v>12152</c:v>
                </c:pt>
                <c:pt idx="13">
                  <c:v>10270</c:v>
                </c:pt>
                <c:pt idx="14">
                  <c:v>10976</c:v>
                </c:pt>
                <c:pt idx="15">
                  <c:v>8781</c:v>
                </c:pt>
                <c:pt idx="16">
                  <c:v>8781</c:v>
                </c:pt>
                <c:pt idx="17">
                  <c:v>8311</c:v>
                </c:pt>
                <c:pt idx="18">
                  <c:v>7840</c:v>
                </c:pt>
                <c:pt idx="19">
                  <c:v>7448</c:v>
                </c:pt>
                <c:pt idx="20">
                  <c:v>6899</c:v>
                </c:pt>
                <c:pt idx="21">
                  <c:v>5645</c:v>
                </c:pt>
              </c:numCache>
            </c:numRef>
          </c:val>
          <c:smooth val="0"/>
        </c:ser>
        <c:ser>
          <c:idx val="1"/>
          <c:order val="1"/>
          <c:tx>
            <c:strRef>
              <c:f>Sheet1!$C$1</c:f>
              <c:strCache>
                <c:ptCount val="1"/>
                <c:pt idx="0">
                  <c:v>Petrol</c:v>
                </c:pt>
              </c:strCache>
            </c:strRef>
          </c:tx>
          <c:spPr>
            <a:solidFill>
              <a:srgbClr val="2F6BFF"/>
            </a:solidFill>
            <a:ln w="38100" cap="flat">
              <a:solidFill>
                <a:srgbClr val="2F6B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BFF"/>
              </a:solidFill>
              <a:ln w="9525" cap="flat">
                <a:solidFill>
                  <a:srgbClr val="2F6BFF"/>
                </a:solidFill>
                <a:prstDash val="solid"/>
                <a:round/>
              </a:ln>
              <a:effectLst/>
            </c:spPr>
          </c:marker>
          <c:cat>
            <c:multiLvlStrRef>
              <c:f>Sheet1!$A$2:$A$23</c:f>
              <c:multiLvlStrCache>
                <c:ptCount val="22"/>
                <c:lvl>
                  <c:pt idx="0">
                    <c:v>8</c:v>
                  </c:pt>
                  <c:pt idx="1">
                    <c:v>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pt idx="18">
                    <c:v>26</c:v>
                  </c:pt>
                  <c:pt idx="19">
                    <c:v>27</c:v>
                  </c:pt>
                  <c:pt idx="20">
                    <c:v>28</c:v>
                  </c:pt>
                  <c:pt idx="21">
                    <c:v>29</c:v>
                  </c:pt>
                </c:lvl>
              </c:multiLvlStrCache>
            </c:multiLvlStrRef>
          </c:cat>
          <c:val>
            <c:numRef>
              <c:f>Sheet1!$C$2:$C$23</c:f>
              <c:numCache>
                <c:formatCode>General</c:formatCode>
                <c:ptCount val="22"/>
                <c:pt idx="0">
                  <c:v>30931</c:v>
                </c:pt>
                <c:pt idx="1">
                  <c:v>25089</c:v>
                </c:pt>
                <c:pt idx="2">
                  <c:v>21953</c:v>
                </c:pt>
                <c:pt idx="3">
                  <c:v>19056</c:v>
                </c:pt>
                <c:pt idx="4">
                  <c:v>17562</c:v>
                </c:pt>
                <c:pt idx="5">
                  <c:v>16741</c:v>
                </c:pt>
                <c:pt idx="6">
                  <c:v>16960</c:v>
                </c:pt>
                <c:pt idx="7">
                  <c:v>15681</c:v>
                </c:pt>
                <c:pt idx="8">
                  <c:v>14740</c:v>
                </c:pt>
                <c:pt idx="9">
                  <c:v>12861</c:v>
                </c:pt>
                <c:pt idx="10">
                  <c:v>13485</c:v>
                </c:pt>
                <c:pt idx="11">
                  <c:v>11368</c:v>
                </c:pt>
                <c:pt idx="12">
                  <c:v>11917</c:v>
                </c:pt>
                <c:pt idx="13">
                  <c:v>9408</c:v>
                </c:pt>
                <c:pt idx="14">
                  <c:v>10036</c:v>
                </c:pt>
                <c:pt idx="15">
                  <c:v>8154</c:v>
                </c:pt>
                <c:pt idx="16">
                  <c:v>8076</c:v>
                </c:pt>
                <c:pt idx="17">
                  <c:v>7840</c:v>
                </c:pt>
                <c:pt idx="18">
                  <c:v>7840</c:v>
                </c:pt>
                <c:pt idx="19">
                  <c:v>7213</c:v>
                </c:pt>
                <c:pt idx="20">
                  <c:v>5645</c:v>
                </c:pt>
                <c:pt idx="21">
                  <c:v>5331</c:v>
                </c:pt>
              </c:numCache>
            </c:numRef>
          </c:val>
          <c:smooth val="0"/>
        </c:ser>
        <c:ser>
          <c:idx val="2"/>
          <c:order val="2"/>
          <c:tx>
            <c:strRef>
              <c:f>Sheet1!$D$1</c:f>
              <c:strCache>
                <c:ptCount val="1"/>
                <c:pt idx="0">
                  <c:v>Diesel</c:v>
                </c:pt>
              </c:strCache>
            </c:strRef>
          </c:tx>
          <c:spPr>
            <a:solidFill>
              <a:srgbClr val="FF6B57"/>
            </a:solidFill>
            <a:ln w="38100" cap="flat">
              <a:solidFill>
                <a:srgbClr val="FF6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6B57"/>
              </a:solidFill>
              <a:ln w="9525" cap="flat">
                <a:solidFill>
                  <a:srgbClr val="FF6B57"/>
                </a:solidFill>
                <a:prstDash val="solid"/>
                <a:round/>
              </a:ln>
              <a:effectLst/>
            </c:spPr>
          </c:marker>
          <c:cat>
            <c:multiLvlStrRef>
              <c:f>Sheet1!$A$2:$A$23</c:f>
              <c:multiLvlStrCache>
                <c:ptCount val="22"/>
                <c:lvl>
                  <c:pt idx="0">
                    <c:v>8</c:v>
                  </c:pt>
                  <c:pt idx="1">
                    <c:v>9</c:v>
                  </c:pt>
                  <c:pt idx="2">
                    <c:v>10</c:v>
                  </c:pt>
                  <c:pt idx="3">
                    <c:v>11</c:v>
                  </c:pt>
                  <c:pt idx="4">
                    <c:v>12</c:v>
                  </c:pt>
                  <c:pt idx="5">
                    <c:v>13</c:v>
                  </c:pt>
                  <c:pt idx="6">
                    <c:v>14</c:v>
                  </c:pt>
                  <c:pt idx="7">
                    <c:v>15</c:v>
                  </c:pt>
                  <c:pt idx="8">
                    <c:v>16</c:v>
                  </c:pt>
                  <c:pt idx="9">
                    <c:v>17</c:v>
                  </c:pt>
                  <c:pt idx="10">
                    <c:v>18</c:v>
                  </c:pt>
                  <c:pt idx="11">
                    <c:v>19</c:v>
                  </c:pt>
                  <c:pt idx="12">
                    <c:v>20</c:v>
                  </c:pt>
                  <c:pt idx="13">
                    <c:v>21</c:v>
                  </c:pt>
                  <c:pt idx="14">
                    <c:v>22</c:v>
                  </c:pt>
                  <c:pt idx="15">
                    <c:v>23</c:v>
                  </c:pt>
                  <c:pt idx="16">
                    <c:v>24</c:v>
                  </c:pt>
                  <c:pt idx="17">
                    <c:v>25</c:v>
                  </c:pt>
                  <c:pt idx="18">
                    <c:v>26</c:v>
                  </c:pt>
                  <c:pt idx="19">
                    <c:v>27</c:v>
                  </c:pt>
                  <c:pt idx="20">
                    <c:v>28</c:v>
                  </c:pt>
                  <c:pt idx="21">
                    <c:v>29</c:v>
                  </c:pt>
                </c:lvl>
              </c:multiLvlStrCache>
            </c:multiLvlStrRef>
          </c:cat>
          <c:val>
            <c:numRef>
              <c:f>Sheet1!$D$2:$D$23</c:f>
              <c:numCache>
                <c:formatCode>General</c:formatCode>
                <c:ptCount val="22"/>
                <c:pt idx="0">
                  <c:v>53188</c:v>
                </c:pt>
                <c:pt idx="1">
                  <c:v>42692</c:v>
                </c:pt>
                <c:pt idx="2">
                  <c:v>40390</c:v>
                </c:pt>
                <c:pt idx="3">
                  <c:v>37094</c:v>
                </c:pt>
                <c:pt idx="4">
                  <c:v>30216</c:v>
                </c:pt>
                <c:pt idx="5">
                  <c:v>29156</c:v>
                </c:pt>
                <c:pt idx="6">
                  <c:v>21103</c:v>
                </c:pt>
                <c:pt idx="7">
                  <c:v>19657</c:v>
                </c:pt>
                <c:pt idx="8">
                  <c:v>19121</c:v>
                </c:pt>
                <c:pt idx="9">
                  <c:v>13956</c:v>
                </c:pt>
                <c:pt idx="10">
                  <c:v>14086</c:v>
                </c:pt>
                <c:pt idx="11">
                  <c:v>10036</c:v>
                </c:pt>
                <c:pt idx="12">
                  <c:v>17249</c:v>
                </c:pt>
                <c:pt idx="13">
                  <c:v>15681</c:v>
                </c:pt>
                <c:pt idx="14">
                  <c:v>13172</c:v>
                </c:pt>
                <c:pt idx="15">
                  <c:v>9722</c:v>
                </c:pt>
                <c:pt idx="16">
                  <c:v>13328</c:v>
                </c:pt>
                <c:pt idx="17">
                  <c:v>10349</c:v>
                </c:pt>
                <c:pt idx="18">
                  <c:v>9722</c:v>
                </c:pt>
                <c:pt idx="19">
                  <c:v>9408</c:v>
                </c:pt>
                <c:pt idx="20">
                  <c:v>10976</c:v>
                </c:pt>
                <c:pt idx="21">
                  <c:v>8781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B4660"/>
                    </a:solidFill>
                    <a:latin typeface="+mn-lt"/>
                  </a:defRPr>
                </a:pPr>
                <a:r>
                  <a:rPr sz="1200" b="0" i="0" u="none" strike="noStrike">
                    <a:solidFill>
                      <a:srgbClr val="3B4660"/>
                    </a:solidFill>
                    <a:latin typeface="+mn-lt"/>
                  </a:rPr>
                  <a:t>Age of the car in years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B4660"/>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DDE3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B4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1220"/>
                </a:solidFill>
                <a:latin typeface="+mn-lt"/>
              </a:defRPr>
            </a:pPr>
            <a:r>
              <a:rPr sz="1500" b="0" i="0" u="none" strike="noStrike">
                <a:solidFill>
                  <a:srgbClr val="0B1220"/>
                </a:solidFill>
                <a:latin typeface="+mn-lt"/>
              </a:rPr>
              <a:t>Average error by the car's real price</a:t>
            </a:r>
          </a:p>
        </c:rich>
      </c:tx>
      <c:layout/>
      <c:overlay val="0"/>
    </c:title>
    <c:autoTitleDeleted val="0"/>
    <c:plotArea>
      <c:layout/>
      <c:barChart>
        <c:barDir val="col"/>
        <c:grouping val="clustered"/>
        <c:varyColors val="0"/>
        <c:ser>
          <c:idx val="0"/>
          <c:order val="0"/>
          <c:tx>
            <c:strRef>
              <c:f>Sheet1!$B$1</c:f>
              <c:strCache>
                <c:ptCount val="1"/>
                <c:pt idx="0">
                  <c:v>Average error</c:v>
                </c:pt>
              </c:strCache>
            </c:strRef>
          </c:tx>
          <c:spPr>
            <a:solidFill>
              <a:srgbClr val="FF6B57"/>
            </a:solidFill>
            <a:effectLst/>
          </c:spPr>
          <c:invertIfNegative val="0"/>
          <c:dLbls>
            <c:numFmt formatCode="$#,##0" sourceLinked="0"/>
            <c:txPr>
              <a:bodyPr/>
              <a:lstStyle/>
              <a:p>
                <a:pPr>
                  <a:defRPr b="0" i="0" strike="noStrike" sz="13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FF6B57"/>
              </a:solidFill>
              <a:effectLst/>
            </c:spPr>
          </c:dPt>
          <c:dPt>
            <c:idx val="1"/>
            <c:invertIfNegative val="0"/>
            <c:bubble3D val="0"/>
            <c:spPr>
              <a:solidFill>
                <a:srgbClr val="FFB020"/>
              </a:solidFill>
              <a:effectLst/>
            </c:spPr>
          </c:dPt>
          <c:dPt>
            <c:idx val="2"/>
            <c:invertIfNegative val="0"/>
            <c:bubble3D val="0"/>
            <c:spPr>
              <a:solidFill>
                <a:srgbClr val="12B5A6"/>
              </a:solidFill>
              <a:effectLst/>
            </c:spPr>
          </c:dPt>
          <c:dPt>
            <c:idx val="3"/>
            <c:invertIfNegative val="0"/>
            <c:bubble3D val="0"/>
            <c:spPr>
              <a:solidFill>
                <a:srgbClr val="2F6BFF"/>
              </a:solidFill>
              <a:effectLst/>
            </c:spPr>
          </c:dPt>
          <c:dPt>
            <c:idx val="4"/>
            <c:invertIfNegative val="0"/>
            <c:bubble3D val="0"/>
            <c:spPr>
              <a:solidFill>
                <a:srgbClr val="7C5CFF"/>
              </a:solidFill>
              <a:effectLst/>
            </c:spPr>
          </c:dPt>
          <c:cat>
            <c:multiLvlStrRef>
              <c:f>Sheet1!$A$2:$A$6</c:f>
              <c:multiLvlStrCache>
                <c:ptCount val="5"/>
                <c:lvl>
                  <c:pt idx="0">
                    <c:v>Under $3k</c:v>
                  </c:pt>
                  <c:pt idx="1">
                    <c:v>$3k–8k</c:v>
                  </c:pt>
                  <c:pt idx="2">
                    <c:v>$8k–15k</c:v>
                  </c:pt>
                  <c:pt idx="3">
                    <c:v>$15k–30k</c:v>
                  </c:pt>
                  <c:pt idx="4">
                    <c:v>Over $30k</c:v>
                  </c:pt>
                </c:lvl>
              </c:multiLvlStrCache>
            </c:multiLvlStrRef>
          </c:cat>
          <c:val>
            <c:numRef>
              <c:f>Sheet1!$B$2:$B$6</c:f>
              <c:numCache>
                <c:formatCode>General</c:formatCode>
                <c:ptCount val="5"/>
                <c:pt idx="0">
                  <c:v>6020</c:v>
                </c:pt>
                <c:pt idx="1">
                  <c:v>2807</c:v>
                </c:pt>
                <c:pt idx="2">
                  <c:v>2768</c:v>
                </c:pt>
                <c:pt idx="3">
                  <c:v>3860</c:v>
                </c:pt>
                <c:pt idx="4">
                  <c:v>10076</c:v>
                </c:pt>
              </c:numCache>
            </c:numRef>
          </c:val>
        </c:ser>
        <c:dLbls>
          <c:numFmt formatCode="$#,##0" sourceLinked="0"/>
          <c:txPr>
            <a:bodyPr/>
            <a:lstStyle/>
            <a:p>
              <a:pPr>
                <a:defRPr b="0" i="0" strike="noStrike" sz="1300" u="none">
                  <a:solidFill>
                    <a:srgbClr val="0B122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B1220"/>
                </a:solidFill>
                <a:latin typeface="+mn-lt"/>
              </a:defRPr>
            </a:pPr>
            <a:endParaRPr lang="en-US"/>
          </a:p>
        </c:txPr>
        <c:crossAx val="2094734552"/>
        <c:crosses val="autoZero"/>
        <c:auto val="1"/>
        <c:lblAlgn val="ctr"/>
        <c:noMultiLvlLbl val="1"/>
      </c:catAx>
      <c:valAx>
        <c:axId val="2094734552"/>
        <c:scaling>
          <c:orientation val="minMax"/>
          <c:max val="12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Nirodha: Good morning, everyone. We are Group KND_11 and today we want to show you how we turned thousands of real used-car advertisements into a tool that tells you what a used car is worth, and how sure we are about it. Over the next quarter of an hour or so, the four of us will take you from the problem, through what we found in the data and how we built the estimator, to a live demonstration and our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Nirodha: Here is how the next fifteen minutes are organised. I will explain the problem and our solution. Wijerathna will show you the data and what it taught us. Ranasinghe will explain how we taught the computer and how well it works. Gunasekara will demonstrate the system and give our recommendations. I will close and we will take your questions. Each of us will also say what we personally built, so you know who to ask about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Nirodha: Imagine you want to buy a ten-year-old sedan. You find two that look almost the same, and one costs thousands of dollars more. Which one is fair? In our data, the middle used car costs about $15,681, but the middle half of all listings stretches from $9,095 to $24,462. Sellers choose their own asking price, and there is no objective reference. That hurts everyone. Buyers risk overpaying, sellers do not know what to ask, and dealers who value trade-ins by hand can be slow and inconsistent. A fair, quick estimate helps all three make better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Nirodha: Our solution is simple to use. You enter the details of a car, such as its make, year, mileage, engine and equipment. Behind the scenes, our model compares it with what it learned from 14,011 real listings. You then get three things: an estimated price, a likely range, and, if you type in an asking price, a plain-language check on whether it looks fair. We built the web service that does this and I will let Gunasekara show it to you live in a few minutes. The important point is that it is a measured estimate, and it always shows its doubt.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Wijerathna: I looked after exploring the data. We started with 19,237 advertisements downloaded from a public dataset of Georgian used-car listings. Many were not usable. About 3,512 were repeats of the same car, and others had impossible values, such as a price of one dollar or a price of twenty-six million dollars. After cleaning, 14,011 listings remained, roughly 73% of what we downloaded. We would rather learn from fewer, trustworthy cars than from many doubtful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Wijerathna: We wanted to know what really moves a price. To find out, we took our finished model and scrambled one factor at a time, for example mixing up the ages between cars, and watched how much worse the estimates became. The bigger the damage, the more that factor matters. Age is clearly first, responsible for about 42 per cent of the model's accuracy. Next come the number of airbags, which probably helps the model tell older and newer designs apart, then engine size and the type of gear box. Colour and the number of doors hardly matter at all, so you can ignore them when judging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Wijerathna: Here are the patterns that surprised us most. On the left, you can see how value falls with age for all cars, for petrol and for diesel. The decline is steep in the first ten to fifteen years and then flattens. On the right are three comparisons using the middle price of each group. SUVs and Jeeps cost a median of $23,521 against $14,740 for sedans. Diesel cars are priced at $23,060 against $14,834 for petrol, partly because diesel is common in large SUVs. And right-hand-drive cars sell for about 46 per cent less than left-hand-drive cars, which matters in a country that drives on the right. I also built the Random Forest model, one of the four we compare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Wijerathna: Here is a simple way to see why one price does not fit all. Both of these are Toyotas, and both are small hatchbacks. On the left is a modern GR Yaris, the sporty version of today's Yaris. On the right is a Starlet Glanza, a turbo hatchback from the nineties that its owner has modified, with new wheels and a bigger intercooler. In our data there are 2,484 Toyotas, with a middle price of $16,308, so the brand alone tells you very little. What separates cars like these is age, engine and turbo, equipment and body type, and our model sees all of those. What it cannot see is modifications and the car's condition. A modified car like this Starlet can be worth much more or much less than the model says, and that is one of the limits Gunasekara will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Ranasinghe: I will explain how we taught the computer. Before that, I prepared the car features the models learn from, for example the car's age, how many kilometres it drives per year, and whether it is a premium make or has a turbo. Then we tried four different approaches. The simplest uses one straight-line formula. The other three build many small decision trees, either as a crowd that votes, or one after another, each fixing the mistakes of the last. The number on each card is the share of price differences the model explains on 2,803 cars it had never seen. The straight line explains only about 44%, because real prices depend on combinations of things. The three tree methods all reach about three quarters. We chose XGBoost because it scored best on the rule we fixed in advance, though I want to be honest that the top three are close. I built the LightGBM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Ranasinghe: So how good is it in everyday terms? About 64% of our estimates land within twenty-five per cent of the real price. On average the estimate is off by about $4,688, and overall the model explains about 76% of why prices differ. That makes it a useful guide, but not a guarantee, and that is why we always show a range. The chart on the right shows where the errors are. For mid-priced cars, the average error is under four thousand dollars. For very cheap cars, under three thousand dollars, the error is larger than the car's price, because those listings often do not follow the car's specification at all. We think it is important to tell you that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Gunasekara: Now let me show you the system from a user's point of view. This is the live website. [Open the estimator section.] I will click 'Fill an example car', which loads a 2014 Toyota sedan with a 2.5 litre petrol engine and 98,000 kilometres. I also type an asking price of fifteen thousand dollars and press 'Estimate price'. The big number is the estimate. Under it is the likely range, and the bar shows where the estimate sits inside that range, and where the seller's asking price sits too. Below the bar, a plain sentence says whether the asking price looks reasonable. At the bottom you can see what each of the four models says, so a big disagreement would be a warning sign. If I type something impossible, such as a production year of 2024, the page tells me exactly which field is wrong. My part of the project was keeping the test cars separate from the training cars and filling in missing values properly, which is why these numbers can be trusted. I also built the Ridge model. [Backup: if the live site does not load, use this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Gunasekara: Based on the evidence, we recommend the following. For buyers: use the range as your starting point for a conversation. In our tests the real price fell inside the range for 80% of cars, so an asking price far below it deserves extra checks of the car's history. For sellers: list close to the estimate. The typical error is about $4,688, so the range tells you how much room to negotiate. For dealers: look first at the factors that carry most of the price, which are age and equipment, and use the estimate for quick, consistent trade-in values. Whenever the four models disagree strongly, take a closer look at that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Gunasekara: A good solution also knows its limits. Very cheap listings are hard to predict, because their prices often do not follow the car's description. The data also does not record modifications or condition, so a modified car, like the Starlet on this slide, can be worth much more or less than we say. The same goes for classic cars. A vintage Volkswagen Beetle like this one is older than anything in our data, and classics can hold or even gain value as they age, the opposite of the pattern we found for ordinary used cars, so the system does not accept cars from before 1980. Only 1.6 per cent of our cars were produced in 2019 or 2020, and none is newer, so the system only accepts cars from 1980 to 2020 and is least sure about the newest ones. The data comes from one country and one period. And the range is wide, from about 0.565 to 1.382 times the estimate, so the estimate is a guide and not a formal valuation. Next, we would collect more recent listings, use the car's model name, which we left out because there are so many, give each car a range that fits it, and host the website online so anyone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Nirodha: To finish, three things to remember. First, used car prices follow patterns, and age and equipment matter most. Second, our estimator turns those patterns into a price, a range and a fairness check that anyone can use. Third, we show our doubt, because an honest range is more useful than a falsely precise number. Thank you for listening. We are happy to take your questions, and each of us can explain our own part of the work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238" cy="109728"/>
          </a:xfrm>
          <a:prstGeom prst="rect">
            <a:avLst/>
          </a:prstGeom>
          <a:solidFill>
            <a:srgbClr val="2F6BFF"/>
          </a:solidFill>
          <a:ln/>
        </p:spPr>
      </p:sp>
      <p:sp>
        <p:nvSpPr>
          <p:cNvPr id="3" name="Shape 1"/>
          <p:cNvSpPr/>
          <p:nvPr/>
        </p:nvSpPr>
        <p:spPr>
          <a:xfrm>
            <a:off x="3047238" y="0"/>
            <a:ext cx="3047238" cy="109728"/>
          </a:xfrm>
          <a:prstGeom prst="rect">
            <a:avLst/>
          </a:prstGeom>
          <a:solidFill>
            <a:srgbClr val="12B5A6"/>
          </a:solidFill>
          <a:ln/>
        </p:spPr>
      </p:sp>
      <p:sp>
        <p:nvSpPr>
          <p:cNvPr id="4" name="Shape 2"/>
          <p:cNvSpPr/>
          <p:nvPr/>
        </p:nvSpPr>
        <p:spPr>
          <a:xfrm>
            <a:off x="6094476" y="0"/>
            <a:ext cx="3047238" cy="109728"/>
          </a:xfrm>
          <a:prstGeom prst="rect">
            <a:avLst/>
          </a:prstGeom>
          <a:solidFill>
            <a:srgbClr val="FFB020"/>
          </a:solidFill>
          <a:ln/>
        </p:spPr>
      </p:sp>
      <p:sp>
        <p:nvSpPr>
          <p:cNvPr id="5" name="Shape 3"/>
          <p:cNvSpPr/>
          <p:nvPr/>
        </p:nvSpPr>
        <p:spPr>
          <a:xfrm>
            <a:off x="9141714" y="0"/>
            <a:ext cx="3050256" cy="109728"/>
          </a:xfrm>
          <a:prstGeom prst="rect">
            <a:avLst/>
          </a:prstGeom>
          <a:solidFill>
            <a:srgbClr val="FF6B57"/>
          </a:solidFill>
          <a:ln/>
        </p:spPr>
      </p:sp>
      <p:sp>
        <p:nvSpPr>
          <p:cNvPr id="6" name="Text 4"/>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D687E"/>
                </a:solidFill>
              </a:rPr>
              <a:t>AutoWorth  |  Group KND_11  |  IT3051 Mini Project 2026</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6-image-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7-image-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10-image-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731520" y="82296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IT3051 FUNDAMENTALS OF DATA MINING  ·  MINI PROJECT 2026</a:t>
            </a:r>
            <a:endParaRPr lang="en-US" sz="1400" dirty="0"/>
          </a:p>
        </p:txBody>
      </p:sp>
      <p:sp>
        <p:nvSpPr>
          <p:cNvPr id="4" name="Text 1"/>
          <p:cNvSpPr txBox="1"/>
          <p:nvPr/>
        </p:nvSpPr>
        <p:spPr>
          <a:xfrm>
            <a:off x="731520" y="1417320"/>
            <a:ext cx="6035040" cy="2194560"/>
          </a:xfrm>
          <a:prstGeom prst="rect">
            <a:avLst/>
          </a:prstGeom>
          <a:noFill/>
          <a:ln/>
        </p:spPr>
        <p:txBody>
          <a:bodyPr wrap="square" lIns="0" tIns="0" rIns="0" bIns="0" rtlCol="0" anchor="t"/>
          <a:lstStyle/>
          <a:p>
            <a:pPr indent="0" marL="0">
              <a:buNone/>
            </a:pPr>
            <a:r>
              <a:rPr lang="en-US" sz="6000" b="1" dirty="0">
                <a:solidFill>
                  <a:schemeClr val="bg1"/>
                </a:solidFill>
              </a:rPr>
              <a:t>Used car prices, explained</a:t>
            </a:r>
            <a:endParaRPr lang="en-US" sz="6000" dirty="0"/>
          </a:p>
        </p:txBody>
      </p:sp>
      <p:sp>
        <p:nvSpPr>
          <p:cNvPr id="5" name="Text 2"/>
          <p:cNvSpPr txBox="1"/>
          <p:nvPr/>
        </p:nvSpPr>
        <p:spPr>
          <a:xfrm>
            <a:off x="731520" y="3657600"/>
            <a:ext cx="5486400" cy="914400"/>
          </a:xfrm>
          <a:prstGeom prst="rect">
            <a:avLst/>
          </a:prstGeom>
          <a:noFill/>
          <a:ln/>
        </p:spPr>
        <p:txBody>
          <a:bodyPr wrap="square" lIns="0" tIns="0" rIns="0" bIns="0" rtlCol="0" anchor="t"/>
          <a:lstStyle/>
          <a:p>
            <a:pPr indent="0" marL="0">
              <a:buNone/>
            </a:pPr>
            <a:r>
              <a:rPr lang="en-US" sz="2200" dirty="0">
                <a:solidFill>
                  <a:srgbClr val="E3E9F7"/>
                </a:solidFill>
              </a:rPr>
              <a:t>How 14,011 real car listings became a price estimator that tells you how sure it is</a:t>
            </a:r>
            <a:endParaRPr lang="en-US" sz="2200" dirty="0"/>
          </a:p>
        </p:txBody>
      </p:sp>
      <p:sp>
        <p:nvSpPr>
          <p:cNvPr id="6" name="Shape 3"/>
          <p:cNvSpPr/>
          <p:nvPr/>
        </p:nvSpPr>
        <p:spPr>
          <a:xfrm>
            <a:off x="731520" y="5074920"/>
            <a:ext cx="1417320" cy="822960"/>
          </a:xfrm>
          <a:prstGeom prst="roundRect">
            <a:avLst>
              <a:gd name="adj" fmla="val 13333"/>
            </a:avLst>
          </a:prstGeom>
          <a:solidFill>
            <a:schemeClr val="accent1"/>
          </a:solidFill>
          <a:ln/>
        </p:spPr>
      </p:sp>
      <p:sp>
        <p:nvSpPr>
          <p:cNvPr id="7" name="Text 4"/>
          <p:cNvSpPr txBox="1"/>
          <p:nvPr/>
        </p:nvSpPr>
        <p:spPr>
          <a:xfrm>
            <a:off x="731520" y="5074920"/>
            <a:ext cx="1417320" cy="822960"/>
          </a:xfrm>
          <a:prstGeom prst="rect">
            <a:avLst/>
          </a:prstGeom>
          <a:noFill/>
          <a:ln/>
        </p:spPr>
        <p:txBody>
          <a:bodyPr wrap="square" lIns="0" tIns="0" rIns="0" bIns="0" rtlCol="0" anchor="ctr"/>
          <a:lstStyle/>
          <a:p>
            <a:pPr algn="ctr" indent="0" marL="0">
              <a:buNone/>
            </a:pPr>
            <a:r>
              <a:rPr lang="en-US" sz="1500" b="1" dirty="0">
                <a:solidFill>
                  <a:srgbClr val="FFFFFF"/>
                </a:solidFill>
              </a:rPr>
              <a:t>Nirodha</a:t>
            </a:r>
            <a:endParaRPr lang="en-US" sz="1500" dirty="0"/>
          </a:p>
          <a:p>
            <a:pPr algn="ctr" indent="0" marL="0">
              <a:buNone/>
            </a:pPr>
            <a:r>
              <a:rPr lang="en-US" sz="1100" dirty="0">
                <a:solidFill>
                  <a:srgbClr val="FFFFFF"/>
                </a:solidFill>
              </a:rPr>
              <a:t>IT23557956</a:t>
            </a:r>
            <a:endParaRPr lang="en-US" sz="1500" dirty="0"/>
          </a:p>
        </p:txBody>
      </p:sp>
      <p:sp>
        <p:nvSpPr>
          <p:cNvPr id="8" name="Shape 5"/>
          <p:cNvSpPr/>
          <p:nvPr/>
        </p:nvSpPr>
        <p:spPr>
          <a:xfrm>
            <a:off x="2286000" y="5074920"/>
            <a:ext cx="1417320" cy="822960"/>
          </a:xfrm>
          <a:prstGeom prst="roundRect">
            <a:avLst>
              <a:gd name="adj" fmla="val 13333"/>
            </a:avLst>
          </a:prstGeom>
          <a:solidFill>
            <a:schemeClr val="accent2"/>
          </a:solidFill>
          <a:ln/>
        </p:spPr>
      </p:sp>
      <p:sp>
        <p:nvSpPr>
          <p:cNvPr id="9" name="Text 6"/>
          <p:cNvSpPr txBox="1"/>
          <p:nvPr/>
        </p:nvSpPr>
        <p:spPr>
          <a:xfrm>
            <a:off x="2286000" y="5074920"/>
            <a:ext cx="1417320" cy="822960"/>
          </a:xfrm>
          <a:prstGeom prst="rect">
            <a:avLst/>
          </a:prstGeom>
          <a:noFill/>
          <a:ln/>
        </p:spPr>
        <p:txBody>
          <a:bodyPr wrap="square" lIns="0" tIns="0" rIns="0" bIns="0" rtlCol="0" anchor="ctr"/>
          <a:lstStyle/>
          <a:p>
            <a:pPr algn="ctr" indent="0" marL="0">
              <a:buNone/>
            </a:pPr>
            <a:r>
              <a:rPr lang="en-US" sz="1500" b="1" dirty="0">
                <a:solidFill>
                  <a:srgbClr val="062B28"/>
                </a:solidFill>
              </a:rPr>
              <a:t>Wijerathna</a:t>
            </a:r>
            <a:endParaRPr lang="en-US" sz="1500" dirty="0"/>
          </a:p>
          <a:p>
            <a:pPr algn="ctr" indent="0" marL="0">
              <a:buNone/>
            </a:pPr>
            <a:r>
              <a:rPr lang="en-US" sz="1100" dirty="0">
                <a:solidFill>
                  <a:srgbClr val="062B28"/>
                </a:solidFill>
              </a:rPr>
              <a:t>IT23630734</a:t>
            </a:r>
            <a:endParaRPr lang="en-US" sz="1500" dirty="0"/>
          </a:p>
        </p:txBody>
      </p:sp>
      <p:sp>
        <p:nvSpPr>
          <p:cNvPr id="10" name="Shape 7"/>
          <p:cNvSpPr/>
          <p:nvPr/>
        </p:nvSpPr>
        <p:spPr>
          <a:xfrm>
            <a:off x="3840480" y="5074920"/>
            <a:ext cx="1417320" cy="822960"/>
          </a:xfrm>
          <a:prstGeom prst="roundRect">
            <a:avLst>
              <a:gd name="adj" fmla="val 13333"/>
            </a:avLst>
          </a:prstGeom>
          <a:solidFill>
            <a:schemeClr val="accent3"/>
          </a:solidFill>
          <a:ln/>
        </p:spPr>
      </p:sp>
      <p:sp>
        <p:nvSpPr>
          <p:cNvPr id="11" name="Text 8"/>
          <p:cNvSpPr txBox="1"/>
          <p:nvPr/>
        </p:nvSpPr>
        <p:spPr>
          <a:xfrm>
            <a:off x="3840480" y="5074920"/>
            <a:ext cx="1417320" cy="822960"/>
          </a:xfrm>
          <a:prstGeom prst="rect">
            <a:avLst/>
          </a:prstGeom>
          <a:noFill/>
          <a:ln/>
        </p:spPr>
        <p:txBody>
          <a:bodyPr wrap="square" lIns="0" tIns="0" rIns="0" bIns="0" rtlCol="0" anchor="ctr"/>
          <a:lstStyle/>
          <a:p>
            <a:pPr algn="ctr" indent="0" marL="0">
              <a:buNone/>
            </a:pPr>
            <a:r>
              <a:rPr lang="en-US" sz="1500" b="1" dirty="0">
                <a:solidFill>
                  <a:srgbClr val="2A1700"/>
                </a:solidFill>
              </a:rPr>
              <a:t>Ranasinghe</a:t>
            </a:r>
            <a:endParaRPr lang="en-US" sz="1500" dirty="0"/>
          </a:p>
          <a:p>
            <a:pPr algn="ctr" indent="0" marL="0">
              <a:buNone/>
            </a:pPr>
            <a:r>
              <a:rPr lang="en-US" sz="1100" dirty="0">
                <a:solidFill>
                  <a:srgbClr val="2A1700"/>
                </a:solidFill>
              </a:rPr>
              <a:t>IT23780088</a:t>
            </a:r>
            <a:endParaRPr lang="en-US" sz="1500" dirty="0"/>
          </a:p>
        </p:txBody>
      </p:sp>
      <p:sp>
        <p:nvSpPr>
          <p:cNvPr id="12" name="Shape 9"/>
          <p:cNvSpPr/>
          <p:nvPr/>
        </p:nvSpPr>
        <p:spPr>
          <a:xfrm>
            <a:off x="5394960" y="5074920"/>
            <a:ext cx="1417320" cy="822960"/>
          </a:xfrm>
          <a:prstGeom prst="roundRect">
            <a:avLst>
              <a:gd name="adj" fmla="val 13333"/>
            </a:avLst>
          </a:prstGeom>
          <a:solidFill>
            <a:schemeClr val="accent4"/>
          </a:solidFill>
          <a:ln/>
        </p:spPr>
      </p:sp>
      <p:sp>
        <p:nvSpPr>
          <p:cNvPr id="13" name="Text 10"/>
          <p:cNvSpPr txBox="1"/>
          <p:nvPr/>
        </p:nvSpPr>
        <p:spPr>
          <a:xfrm>
            <a:off x="5394960" y="5074920"/>
            <a:ext cx="1417320" cy="822960"/>
          </a:xfrm>
          <a:prstGeom prst="rect">
            <a:avLst/>
          </a:prstGeom>
          <a:noFill/>
          <a:ln/>
        </p:spPr>
        <p:txBody>
          <a:bodyPr wrap="square" lIns="0" tIns="0" rIns="0" bIns="0" rtlCol="0" anchor="ctr"/>
          <a:lstStyle/>
          <a:p>
            <a:pPr algn="ctr" indent="0" marL="0">
              <a:buNone/>
            </a:pPr>
            <a:r>
              <a:rPr lang="en-US" sz="1500" b="1" dirty="0">
                <a:solidFill>
                  <a:srgbClr val="2A0A05"/>
                </a:solidFill>
              </a:rPr>
              <a:t>Gunasekara</a:t>
            </a:r>
            <a:endParaRPr lang="en-US" sz="1500" dirty="0"/>
          </a:p>
          <a:p>
            <a:pPr algn="ctr" indent="0" marL="0">
              <a:buNone/>
            </a:pPr>
            <a:r>
              <a:rPr lang="en-US" sz="1100" dirty="0">
                <a:solidFill>
                  <a:srgbClr val="2A0A05"/>
                </a:solidFill>
              </a:rPr>
              <a:t>IT23614208</a:t>
            </a:r>
            <a:endParaRPr lang="en-US" sz="1500" dirty="0"/>
          </a:p>
        </p:txBody>
      </p:sp>
      <p:sp>
        <p:nvSpPr>
          <p:cNvPr id="14" name="Text 11"/>
          <p:cNvSpPr txBox="1"/>
          <p:nvPr/>
        </p:nvSpPr>
        <p:spPr>
          <a:xfrm>
            <a:off x="731520" y="6172200"/>
            <a:ext cx="3657600" cy="274320"/>
          </a:xfrm>
          <a:prstGeom prst="rect">
            <a:avLst/>
          </a:prstGeom>
          <a:noFill/>
          <a:ln/>
        </p:spPr>
        <p:txBody>
          <a:bodyPr wrap="square" lIns="0" tIns="0" rIns="0" bIns="0" rtlCol="0" anchor="ctr"/>
          <a:lstStyle/>
          <a:p>
            <a:pPr indent="0" marL="0">
              <a:buNone/>
            </a:pPr>
            <a:r>
              <a:rPr lang="en-US" sz="1200" dirty="0">
                <a:solidFill>
                  <a:srgbClr val="C9D3EA"/>
                </a:solidFill>
              </a:rPr>
              <a:t>Group KND_11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Four speakers, one story</a:t>
            </a:r>
            <a:endParaRPr lang="en-US" sz="3600" dirty="0"/>
          </a:p>
        </p:txBody>
      </p:sp>
      <p:sp>
        <p:nvSpPr>
          <p:cNvPr id="4" name="Shape 1"/>
          <p:cNvSpPr/>
          <p:nvPr/>
        </p:nvSpPr>
        <p:spPr>
          <a:xfrm>
            <a:off x="548640" y="1691640"/>
            <a:ext cx="2651760" cy="4343400"/>
          </a:xfrm>
          <a:prstGeom prst="roundRect">
            <a:avLst>
              <a:gd name="adj" fmla="val 4138"/>
            </a:avLst>
          </a:prstGeom>
          <a:solidFill>
            <a:srgbClr val="E6EDFF"/>
          </a:solidFill>
          <a:ln/>
          <a:effectLst>
            <a:outerShdw sx="100000" sy="100000" kx="0" ky="0" algn="bl" rotWithShape="0" blurRad="127000" dist="38100" dir="5400000">
              <a:srgbClr val="0B1220">
                <a:alpha val="14000"/>
              </a:srgbClr>
            </a:outerShdw>
          </a:effectLst>
        </p:spPr>
      </p:sp>
      <p:sp>
        <p:nvSpPr>
          <p:cNvPr id="5" name="Shape 2"/>
          <p:cNvSpPr/>
          <p:nvPr/>
        </p:nvSpPr>
        <p:spPr>
          <a:xfrm>
            <a:off x="777240" y="1920240"/>
            <a:ext cx="640080" cy="640080"/>
          </a:xfrm>
          <a:prstGeom prst="ellipse">
            <a:avLst/>
          </a:prstGeom>
          <a:solidFill>
            <a:schemeClr val="accent1"/>
          </a:solidFill>
          <a:ln/>
        </p:spPr>
      </p:sp>
      <p:sp>
        <p:nvSpPr>
          <p:cNvPr id="6" name="Text 3"/>
          <p:cNvSpPr txBox="1"/>
          <p:nvPr/>
        </p:nvSpPr>
        <p:spPr>
          <a:xfrm>
            <a:off x="777240" y="19202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4"/>
          <p:cNvSpPr txBox="1"/>
          <p:nvPr/>
        </p:nvSpPr>
        <p:spPr>
          <a:xfrm>
            <a:off x="777240" y="2743200"/>
            <a:ext cx="2240280" cy="548640"/>
          </a:xfrm>
          <a:prstGeom prst="rect">
            <a:avLst/>
          </a:prstGeom>
          <a:noFill/>
          <a:ln/>
        </p:spPr>
        <p:txBody>
          <a:bodyPr wrap="square" lIns="0" tIns="0" rIns="0" bIns="0" rtlCol="0" anchor="t"/>
          <a:lstStyle/>
          <a:p>
            <a:pPr indent="0" marL="0">
              <a:buNone/>
            </a:pPr>
            <a:r>
              <a:rPr lang="en-US" sz="1700" b="1" dirty="0">
                <a:solidFill>
                  <a:schemeClr val="tx1"/>
                </a:solidFill>
              </a:rPr>
              <a:t>N S Devapriya (Nirodha)</a:t>
            </a:r>
            <a:endParaRPr lang="en-US" sz="1700" dirty="0"/>
          </a:p>
        </p:txBody>
      </p:sp>
      <p:sp>
        <p:nvSpPr>
          <p:cNvPr id="8" name="Text 5"/>
          <p:cNvSpPr txBox="1"/>
          <p:nvPr/>
        </p:nvSpPr>
        <p:spPr>
          <a:xfrm>
            <a:off x="777240" y="3337560"/>
            <a:ext cx="2240280" cy="731520"/>
          </a:xfrm>
          <a:prstGeom prst="rect">
            <a:avLst/>
          </a:prstGeom>
          <a:noFill/>
          <a:ln/>
        </p:spPr>
        <p:txBody>
          <a:bodyPr wrap="square" lIns="0" tIns="0" rIns="0" bIns="0" rtlCol="0" anchor="t"/>
          <a:lstStyle/>
          <a:p>
            <a:pPr indent="0" marL="0">
              <a:buNone/>
            </a:pPr>
            <a:r>
              <a:rPr lang="en-US" sz="1600" b="1" dirty="0">
                <a:solidFill>
                  <a:schemeClr val="accent1"/>
                </a:solidFill>
              </a:rPr>
              <a:t>The problem and our solution</a:t>
            </a:r>
            <a:endParaRPr lang="en-US" sz="1600" dirty="0"/>
          </a:p>
        </p:txBody>
      </p:sp>
      <p:sp>
        <p:nvSpPr>
          <p:cNvPr id="9" name="Text 6"/>
          <p:cNvSpPr txBox="1"/>
          <p:nvPr/>
        </p:nvSpPr>
        <p:spPr>
          <a:xfrm>
            <a:off x="777240" y="4114800"/>
            <a:ext cx="2240280" cy="640080"/>
          </a:xfrm>
          <a:prstGeom prst="rect">
            <a:avLst/>
          </a:prstGeom>
          <a:noFill/>
          <a:ln/>
        </p:spPr>
        <p:txBody>
          <a:bodyPr wrap="square" lIns="0" tIns="0" rIns="0" bIns="0" rtlCol="0" anchor="t"/>
          <a:lstStyle/>
          <a:p>
            <a:pPr indent="0" marL="0">
              <a:buNone/>
            </a:pPr>
            <a:r>
              <a:rPr lang="en-US" sz="1300" dirty="0">
                <a:solidFill>
                  <a:srgbClr val="5D687E"/>
                </a:solidFill>
              </a:rPr>
              <a:t>Slides 3–4 and 14</a:t>
            </a:r>
            <a:endParaRPr lang="en-US" sz="1300" dirty="0"/>
          </a:p>
          <a:p>
            <a:pPr indent="0" marL="0">
              <a:buNone/>
            </a:pPr>
            <a:r>
              <a:rPr lang="en-US" sz="1300" dirty="0">
                <a:solidFill>
                  <a:srgbClr val="5D687E"/>
                </a:solidFill>
              </a:rPr>
              <a:t>About 4.5 min</a:t>
            </a:r>
            <a:endParaRPr lang="en-US" sz="1300" dirty="0"/>
          </a:p>
        </p:txBody>
      </p:sp>
      <p:sp>
        <p:nvSpPr>
          <p:cNvPr id="10" name="Text 7"/>
          <p:cNvSpPr txBox="1"/>
          <p:nvPr/>
        </p:nvSpPr>
        <p:spPr>
          <a:xfrm>
            <a:off x="777240" y="4846320"/>
            <a:ext cx="2240280" cy="1097280"/>
          </a:xfrm>
          <a:prstGeom prst="rect">
            <a:avLst/>
          </a:prstGeom>
          <a:noFill/>
          <a:ln/>
        </p:spPr>
        <p:txBody>
          <a:bodyPr wrap="square" lIns="0" tIns="0" rIns="0" bIns="0" rtlCol="0" anchor="t"/>
          <a:lstStyle/>
          <a:p>
            <a:pPr indent="0" marL="0">
              <a:buNone/>
            </a:pPr>
            <a:r>
              <a:rPr lang="en-US" sz="1300" dirty="0">
                <a:solidFill>
                  <a:schemeClr val="tx1"/>
                </a:solidFill>
              </a:rPr>
              <a:t>Cleaned the raw listings, built the XGBoost model and the web service</a:t>
            </a:r>
            <a:endParaRPr lang="en-US" sz="1300" dirty="0"/>
          </a:p>
        </p:txBody>
      </p:sp>
      <p:sp>
        <p:nvSpPr>
          <p:cNvPr id="11" name="Shape 8"/>
          <p:cNvSpPr/>
          <p:nvPr/>
        </p:nvSpPr>
        <p:spPr>
          <a:xfrm>
            <a:off x="3383280" y="1691640"/>
            <a:ext cx="2651760" cy="4343400"/>
          </a:xfrm>
          <a:prstGeom prst="roundRect">
            <a:avLst>
              <a:gd name="adj" fmla="val 4138"/>
            </a:avLst>
          </a:prstGeom>
          <a:solidFill>
            <a:srgbClr val="D9F5F0"/>
          </a:solidFill>
          <a:ln/>
          <a:effectLst>
            <a:outerShdw sx="100000" sy="100000" kx="0" ky="0" algn="bl" rotWithShape="0" blurRad="127000" dist="38100" dir="5400000">
              <a:srgbClr val="0B1220">
                <a:alpha val="14000"/>
              </a:srgbClr>
            </a:outerShdw>
          </a:effectLst>
        </p:spPr>
      </p:sp>
      <p:sp>
        <p:nvSpPr>
          <p:cNvPr id="12" name="Shape 9"/>
          <p:cNvSpPr/>
          <p:nvPr/>
        </p:nvSpPr>
        <p:spPr>
          <a:xfrm>
            <a:off x="3611880" y="1920240"/>
            <a:ext cx="640080" cy="640080"/>
          </a:xfrm>
          <a:prstGeom prst="ellipse">
            <a:avLst/>
          </a:prstGeom>
          <a:solidFill>
            <a:schemeClr val="accent2"/>
          </a:solidFill>
          <a:ln/>
        </p:spPr>
      </p:sp>
      <p:sp>
        <p:nvSpPr>
          <p:cNvPr id="13" name="Text 10"/>
          <p:cNvSpPr txBox="1"/>
          <p:nvPr/>
        </p:nvSpPr>
        <p:spPr>
          <a:xfrm>
            <a:off x="3611880" y="1920240"/>
            <a:ext cx="640080" cy="640080"/>
          </a:xfrm>
          <a:prstGeom prst="rect">
            <a:avLst/>
          </a:prstGeom>
          <a:noFill/>
          <a:ln/>
        </p:spPr>
        <p:txBody>
          <a:bodyPr wrap="square" lIns="0" tIns="0" rIns="0" bIns="0" rtlCol="0" anchor="ctr"/>
          <a:lstStyle/>
          <a:p>
            <a:pPr algn="ctr" indent="0" marL="0">
              <a:buNone/>
            </a:pPr>
            <a:r>
              <a:rPr lang="en-US" sz="1800" b="1" dirty="0">
                <a:solidFill>
                  <a:srgbClr val="062B28"/>
                </a:solidFill>
              </a:rPr>
              <a:t>2</a:t>
            </a:r>
            <a:endParaRPr lang="en-US" sz="1800" dirty="0"/>
          </a:p>
        </p:txBody>
      </p:sp>
      <p:sp>
        <p:nvSpPr>
          <p:cNvPr id="14" name="Text 11"/>
          <p:cNvSpPr txBox="1"/>
          <p:nvPr/>
        </p:nvSpPr>
        <p:spPr>
          <a:xfrm>
            <a:off x="3611880" y="2743200"/>
            <a:ext cx="2240280" cy="548640"/>
          </a:xfrm>
          <a:prstGeom prst="rect">
            <a:avLst/>
          </a:prstGeom>
          <a:noFill/>
          <a:ln/>
        </p:spPr>
        <p:txBody>
          <a:bodyPr wrap="square" lIns="0" tIns="0" rIns="0" bIns="0" rtlCol="0" anchor="t"/>
          <a:lstStyle/>
          <a:p>
            <a:pPr indent="0" marL="0">
              <a:buNone/>
            </a:pPr>
            <a:r>
              <a:rPr lang="en-US" sz="1700" b="1" dirty="0">
                <a:solidFill>
                  <a:schemeClr val="tx1"/>
                </a:solidFill>
              </a:rPr>
              <a:t>W G B S Wijerathna</a:t>
            </a:r>
            <a:endParaRPr lang="en-US" sz="1700" dirty="0"/>
          </a:p>
        </p:txBody>
      </p:sp>
      <p:sp>
        <p:nvSpPr>
          <p:cNvPr id="15" name="Text 12"/>
          <p:cNvSpPr txBox="1"/>
          <p:nvPr/>
        </p:nvSpPr>
        <p:spPr>
          <a:xfrm>
            <a:off x="3611880" y="3337560"/>
            <a:ext cx="2240280" cy="731520"/>
          </a:xfrm>
          <a:prstGeom prst="rect">
            <a:avLst/>
          </a:prstGeom>
          <a:noFill/>
          <a:ln/>
        </p:spPr>
        <p:txBody>
          <a:bodyPr wrap="square" lIns="0" tIns="0" rIns="0" bIns="0" rtlCol="0" anchor="t"/>
          <a:lstStyle/>
          <a:p>
            <a:pPr indent="0" marL="0">
              <a:buNone/>
            </a:pPr>
            <a:r>
              <a:rPr lang="en-US" sz="1600" b="1" dirty="0">
                <a:solidFill>
                  <a:schemeClr val="accent2"/>
                </a:solidFill>
              </a:rPr>
              <a:t>The data and what it showed</a:t>
            </a:r>
            <a:endParaRPr lang="en-US" sz="1600" dirty="0"/>
          </a:p>
        </p:txBody>
      </p:sp>
      <p:sp>
        <p:nvSpPr>
          <p:cNvPr id="16" name="Text 13"/>
          <p:cNvSpPr txBox="1"/>
          <p:nvPr/>
        </p:nvSpPr>
        <p:spPr>
          <a:xfrm>
            <a:off x="3611880" y="4114800"/>
            <a:ext cx="2240280" cy="640080"/>
          </a:xfrm>
          <a:prstGeom prst="rect">
            <a:avLst/>
          </a:prstGeom>
          <a:noFill/>
          <a:ln/>
        </p:spPr>
        <p:txBody>
          <a:bodyPr wrap="square" lIns="0" tIns="0" rIns="0" bIns="0" rtlCol="0" anchor="t"/>
          <a:lstStyle/>
          <a:p>
            <a:pPr indent="0" marL="0">
              <a:buNone/>
            </a:pPr>
            <a:r>
              <a:rPr lang="en-US" sz="1300" dirty="0">
                <a:solidFill>
                  <a:srgbClr val="5D687E"/>
                </a:solidFill>
              </a:rPr>
              <a:t>Slides 5–8</a:t>
            </a:r>
            <a:endParaRPr lang="en-US" sz="1300" dirty="0"/>
          </a:p>
          <a:p>
            <a:pPr indent="0" marL="0">
              <a:buNone/>
            </a:pPr>
            <a:r>
              <a:rPr lang="en-US" sz="1300" dirty="0">
                <a:solidFill>
                  <a:srgbClr val="5D687E"/>
                </a:solidFill>
              </a:rPr>
              <a:t>About 4.75 min</a:t>
            </a:r>
            <a:endParaRPr lang="en-US" sz="1300" dirty="0"/>
          </a:p>
        </p:txBody>
      </p:sp>
      <p:sp>
        <p:nvSpPr>
          <p:cNvPr id="17" name="Text 14"/>
          <p:cNvSpPr txBox="1"/>
          <p:nvPr/>
        </p:nvSpPr>
        <p:spPr>
          <a:xfrm>
            <a:off x="3611880" y="4846320"/>
            <a:ext cx="2240280" cy="1097280"/>
          </a:xfrm>
          <a:prstGeom prst="rect">
            <a:avLst/>
          </a:prstGeom>
          <a:noFill/>
          <a:ln/>
        </p:spPr>
        <p:txBody>
          <a:bodyPr wrap="square" lIns="0" tIns="0" rIns="0" bIns="0" rtlCol="0" anchor="t"/>
          <a:lstStyle/>
          <a:p>
            <a:pPr indent="0" marL="0">
              <a:buNone/>
            </a:pPr>
            <a:r>
              <a:rPr lang="en-US" sz="1300" dirty="0">
                <a:solidFill>
                  <a:schemeClr val="tx1"/>
                </a:solidFill>
              </a:rPr>
              <a:t>Explored the data and found the price patterns; built the Random Forest model</a:t>
            </a:r>
            <a:endParaRPr lang="en-US" sz="1300" dirty="0"/>
          </a:p>
        </p:txBody>
      </p:sp>
      <p:sp>
        <p:nvSpPr>
          <p:cNvPr id="18" name="Shape 15"/>
          <p:cNvSpPr/>
          <p:nvPr/>
        </p:nvSpPr>
        <p:spPr>
          <a:xfrm>
            <a:off x="6217920" y="1691640"/>
            <a:ext cx="2651760" cy="4343400"/>
          </a:xfrm>
          <a:prstGeom prst="roundRect">
            <a:avLst>
              <a:gd name="adj" fmla="val 4138"/>
            </a:avLst>
          </a:prstGeom>
          <a:solidFill>
            <a:srgbClr val="FFF1CF"/>
          </a:solidFill>
          <a:ln/>
          <a:effectLst>
            <a:outerShdw sx="100000" sy="100000" kx="0" ky="0" algn="bl" rotWithShape="0" blurRad="127000" dist="38100" dir="5400000">
              <a:srgbClr val="0B1220">
                <a:alpha val="14000"/>
              </a:srgbClr>
            </a:outerShdw>
          </a:effectLst>
        </p:spPr>
      </p:sp>
      <p:sp>
        <p:nvSpPr>
          <p:cNvPr id="19" name="Shape 16"/>
          <p:cNvSpPr/>
          <p:nvPr/>
        </p:nvSpPr>
        <p:spPr>
          <a:xfrm>
            <a:off x="6446520" y="1920240"/>
            <a:ext cx="640080" cy="640080"/>
          </a:xfrm>
          <a:prstGeom prst="ellipse">
            <a:avLst/>
          </a:prstGeom>
          <a:solidFill>
            <a:schemeClr val="accent3"/>
          </a:solidFill>
          <a:ln/>
        </p:spPr>
      </p:sp>
      <p:sp>
        <p:nvSpPr>
          <p:cNvPr id="20" name="Text 17"/>
          <p:cNvSpPr txBox="1"/>
          <p:nvPr/>
        </p:nvSpPr>
        <p:spPr>
          <a:xfrm>
            <a:off x="6446520" y="1920240"/>
            <a:ext cx="640080" cy="640080"/>
          </a:xfrm>
          <a:prstGeom prst="rect">
            <a:avLst/>
          </a:prstGeom>
          <a:noFill/>
          <a:ln/>
        </p:spPr>
        <p:txBody>
          <a:bodyPr wrap="square" lIns="0" tIns="0" rIns="0" bIns="0" rtlCol="0" anchor="ctr"/>
          <a:lstStyle/>
          <a:p>
            <a:pPr algn="ctr" indent="0" marL="0">
              <a:buNone/>
            </a:pPr>
            <a:r>
              <a:rPr lang="en-US" sz="1800" b="1" dirty="0">
                <a:solidFill>
                  <a:srgbClr val="2A1700"/>
                </a:solidFill>
              </a:rPr>
              <a:t>3</a:t>
            </a:r>
            <a:endParaRPr lang="en-US" sz="1800" dirty="0"/>
          </a:p>
        </p:txBody>
      </p:sp>
      <p:sp>
        <p:nvSpPr>
          <p:cNvPr id="21" name="Text 18"/>
          <p:cNvSpPr txBox="1"/>
          <p:nvPr/>
        </p:nvSpPr>
        <p:spPr>
          <a:xfrm>
            <a:off x="6446520" y="2743200"/>
            <a:ext cx="2240280" cy="548640"/>
          </a:xfrm>
          <a:prstGeom prst="rect">
            <a:avLst/>
          </a:prstGeom>
          <a:noFill/>
          <a:ln/>
        </p:spPr>
        <p:txBody>
          <a:bodyPr wrap="square" lIns="0" tIns="0" rIns="0" bIns="0" rtlCol="0" anchor="t"/>
          <a:lstStyle/>
          <a:p>
            <a:pPr indent="0" marL="0">
              <a:buNone/>
            </a:pPr>
            <a:r>
              <a:rPr lang="en-US" sz="1700" b="1" dirty="0">
                <a:solidFill>
                  <a:schemeClr val="tx1"/>
                </a:solidFill>
              </a:rPr>
              <a:t>R A N K Ranasinghe</a:t>
            </a:r>
            <a:endParaRPr lang="en-US" sz="1700" dirty="0"/>
          </a:p>
        </p:txBody>
      </p:sp>
      <p:sp>
        <p:nvSpPr>
          <p:cNvPr id="22" name="Text 19"/>
          <p:cNvSpPr txBox="1"/>
          <p:nvPr/>
        </p:nvSpPr>
        <p:spPr>
          <a:xfrm>
            <a:off x="6446520" y="3337560"/>
            <a:ext cx="2240280" cy="731520"/>
          </a:xfrm>
          <a:prstGeom prst="rect">
            <a:avLst/>
          </a:prstGeom>
          <a:noFill/>
          <a:ln/>
        </p:spPr>
        <p:txBody>
          <a:bodyPr wrap="square" lIns="0" tIns="0" rIns="0" bIns="0" rtlCol="0" anchor="t"/>
          <a:lstStyle/>
          <a:p>
            <a:pPr indent="0" marL="0">
              <a:buNone/>
            </a:pPr>
            <a:r>
              <a:rPr lang="en-US" sz="1600" b="1" dirty="0">
                <a:solidFill>
                  <a:srgbClr val="B37400"/>
                </a:solidFill>
              </a:rPr>
              <a:t>How we taught the computer</a:t>
            </a:r>
            <a:endParaRPr lang="en-US" sz="1600" dirty="0"/>
          </a:p>
        </p:txBody>
      </p:sp>
      <p:sp>
        <p:nvSpPr>
          <p:cNvPr id="23" name="Text 20"/>
          <p:cNvSpPr txBox="1"/>
          <p:nvPr/>
        </p:nvSpPr>
        <p:spPr>
          <a:xfrm>
            <a:off x="6446520" y="4114800"/>
            <a:ext cx="2240280" cy="640080"/>
          </a:xfrm>
          <a:prstGeom prst="rect">
            <a:avLst/>
          </a:prstGeom>
          <a:noFill/>
          <a:ln/>
        </p:spPr>
        <p:txBody>
          <a:bodyPr wrap="square" lIns="0" tIns="0" rIns="0" bIns="0" rtlCol="0" anchor="t"/>
          <a:lstStyle/>
          <a:p>
            <a:pPr indent="0" marL="0">
              <a:buNone/>
            </a:pPr>
            <a:r>
              <a:rPr lang="en-US" sz="1300" dirty="0">
                <a:solidFill>
                  <a:srgbClr val="5D687E"/>
                </a:solidFill>
              </a:rPr>
              <a:t>Slides 9–10</a:t>
            </a:r>
            <a:endParaRPr lang="en-US" sz="1300" dirty="0"/>
          </a:p>
          <a:p>
            <a:pPr indent="0" marL="0">
              <a:buNone/>
            </a:pPr>
            <a:r>
              <a:rPr lang="en-US" sz="1300" dirty="0">
                <a:solidFill>
                  <a:srgbClr val="5D687E"/>
                </a:solidFill>
              </a:rPr>
              <a:t>About 3.5 min</a:t>
            </a:r>
            <a:endParaRPr lang="en-US" sz="1300" dirty="0"/>
          </a:p>
        </p:txBody>
      </p:sp>
      <p:sp>
        <p:nvSpPr>
          <p:cNvPr id="24" name="Text 21"/>
          <p:cNvSpPr txBox="1"/>
          <p:nvPr/>
        </p:nvSpPr>
        <p:spPr>
          <a:xfrm>
            <a:off x="6446520" y="4846320"/>
            <a:ext cx="2240280" cy="1097280"/>
          </a:xfrm>
          <a:prstGeom prst="rect">
            <a:avLst/>
          </a:prstGeom>
          <a:noFill/>
          <a:ln/>
        </p:spPr>
        <p:txBody>
          <a:bodyPr wrap="square" lIns="0" tIns="0" rIns="0" bIns="0" rtlCol="0" anchor="t"/>
          <a:lstStyle/>
          <a:p>
            <a:pPr indent="0" marL="0">
              <a:buNone/>
            </a:pPr>
            <a:r>
              <a:rPr lang="en-US" sz="1300" dirty="0">
                <a:solidFill>
                  <a:schemeClr val="tx1"/>
                </a:solidFill>
              </a:rPr>
              <a:t>Designed the car features the models use; built the LightGBM model</a:t>
            </a:r>
            <a:endParaRPr lang="en-US" sz="1300" dirty="0"/>
          </a:p>
        </p:txBody>
      </p:sp>
      <p:sp>
        <p:nvSpPr>
          <p:cNvPr id="25" name="Shape 22"/>
          <p:cNvSpPr/>
          <p:nvPr/>
        </p:nvSpPr>
        <p:spPr>
          <a:xfrm>
            <a:off x="9052560" y="1691640"/>
            <a:ext cx="2651760" cy="4343400"/>
          </a:xfrm>
          <a:prstGeom prst="roundRect">
            <a:avLst>
              <a:gd name="adj" fmla="val 4138"/>
            </a:avLst>
          </a:prstGeom>
          <a:solidFill>
            <a:srgbClr val="FFE3DD"/>
          </a:solidFill>
          <a:ln/>
          <a:effectLst>
            <a:outerShdw sx="100000" sy="100000" kx="0" ky="0" algn="bl" rotWithShape="0" blurRad="127000" dist="38100" dir="5400000">
              <a:srgbClr val="0B1220">
                <a:alpha val="14000"/>
              </a:srgbClr>
            </a:outerShdw>
          </a:effectLst>
        </p:spPr>
      </p:sp>
      <p:sp>
        <p:nvSpPr>
          <p:cNvPr id="26" name="Shape 23"/>
          <p:cNvSpPr/>
          <p:nvPr/>
        </p:nvSpPr>
        <p:spPr>
          <a:xfrm>
            <a:off x="9281160" y="1920240"/>
            <a:ext cx="640080" cy="640080"/>
          </a:xfrm>
          <a:prstGeom prst="ellipse">
            <a:avLst/>
          </a:prstGeom>
          <a:solidFill>
            <a:schemeClr val="accent4"/>
          </a:solidFill>
          <a:ln/>
        </p:spPr>
      </p:sp>
      <p:sp>
        <p:nvSpPr>
          <p:cNvPr id="27" name="Text 24"/>
          <p:cNvSpPr txBox="1"/>
          <p:nvPr/>
        </p:nvSpPr>
        <p:spPr>
          <a:xfrm>
            <a:off x="9281160" y="1920240"/>
            <a:ext cx="640080" cy="640080"/>
          </a:xfrm>
          <a:prstGeom prst="rect">
            <a:avLst/>
          </a:prstGeom>
          <a:noFill/>
          <a:ln/>
        </p:spPr>
        <p:txBody>
          <a:bodyPr wrap="square" lIns="0" tIns="0" rIns="0" bIns="0" rtlCol="0" anchor="ctr"/>
          <a:lstStyle/>
          <a:p>
            <a:pPr algn="ctr" indent="0" marL="0">
              <a:buNone/>
            </a:pPr>
            <a:r>
              <a:rPr lang="en-US" sz="1800" b="1" dirty="0">
                <a:solidFill>
                  <a:srgbClr val="2A0A05"/>
                </a:solidFill>
              </a:rPr>
              <a:t>4</a:t>
            </a:r>
            <a:endParaRPr lang="en-US" sz="1800" dirty="0"/>
          </a:p>
        </p:txBody>
      </p:sp>
      <p:sp>
        <p:nvSpPr>
          <p:cNvPr id="28" name="Text 25"/>
          <p:cNvSpPr txBox="1"/>
          <p:nvPr/>
        </p:nvSpPr>
        <p:spPr>
          <a:xfrm>
            <a:off x="9281160" y="2743200"/>
            <a:ext cx="2240280" cy="548640"/>
          </a:xfrm>
          <a:prstGeom prst="rect">
            <a:avLst/>
          </a:prstGeom>
          <a:noFill/>
          <a:ln/>
        </p:spPr>
        <p:txBody>
          <a:bodyPr wrap="square" lIns="0" tIns="0" rIns="0" bIns="0" rtlCol="0" anchor="t"/>
          <a:lstStyle/>
          <a:p>
            <a:pPr indent="0" marL="0">
              <a:buNone/>
            </a:pPr>
            <a:r>
              <a:rPr lang="en-US" sz="1700" b="1" dirty="0">
                <a:solidFill>
                  <a:schemeClr val="tx1"/>
                </a:solidFill>
              </a:rPr>
              <a:t>T M A R Gunasekara</a:t>
            </a:r>
            <a:endParaRPr lang="en-US" sz="1700" dirty="0"/>
          </a:p>
        </p:txBody>
      </p:sp>
      <p:sp>
        <p:nvSpPr>
          <p:cNvPr id="29" name="Text 26"/>
          <p:cNvSpPr txBox="1"/>
          <p:nvPr/>
        </p:nvSpPr>
        <p:spPr>
          <a:xfrm>
            <a:off x="9281160" y="3337560"/>
            <a:ext cx="2240280" cy="731520"/>
          </a:xfrm>
          <a:prstGeom prst="rect">
            <a:avLst/>
          </a:prstGeom>
          <a:noFill/>
          <a:ln/>
        </p:spPr>
        <p:txBody>
          <a:bodyPr wrap="square" lIns="0" tIns="0" rIns="0" bIns="0" rtlCol="0" anchor="t"/>
          <a:lstStyle/>
          <a:p>
            <a:pPr indent="0" marL="0">
              <a:buNone/>
            </a:pPr>
            <a:r>
              <a:rPr lang="en-US" sz="1600" b="1" dirty="0">
                <a:solidFill>
                  <a:schemeClr val="accent4"/>
                </a:solidFill>
              </a:rPr>
              <a:t>Using it, and what next</a:t>
            </a:r>
            <a:endParaRPr lang="en-US" sz="1600" dirty="0"/>
          </a:p>
        </p:txBody>
      </p:sp>
      <p:sp>
        <p:nvSpPr>
          <p:cNvPr id="30" name="Text 27"/>
          <p:cNvSpPr txBox="1"/>
          <p:nvPr/>
        </p:nvSpPr>
        <p:spPr>
          <a:xfrm>
            <a:off x="9281160" y="4114800"/>
            <a:ext cx="2240280" cy="640080"/>
          </a:xfrm>
          <a:prstGeom prst="rect">
            <a:avLst/>
          </a:prstGeom>
          <a:noFill/>
          <a:ln/>
        </p:spPr>
        <p:txBody>
          <a:bodyPr wrap="square" lIns="0" tIns="0" rIns="0" bIns="0" rtlCol="0" anchor="t"/>
          <a:lstStyle/>
          <a:p>
            <a:pPr indent="0" marL="0">
              <a:buNone/>
            </a:pPr>
            <a:r>
              <a:rPr lang="en-US" sz="1300" dirty="0">
                <a:solidFill>
                  <a:srgbClr val="5D687E"/>
                </a:solidFill>
              </a:rPr>
              <a:t>Slides 11–13</a:t>
            </a:r>
            <a:endParaRPr lang="en-US" sz="1300" dirty="0"/>
          </a:p>
          <a:p>
            <a:pPr indent="0" marL="0">
              <a:buNone/>
            </a:pPr>
            <a:r>
              <a:rPr lang="en-US" sz="1300" dirty="0">
                <a:solidFill>
                  <a:srgbClr val="5D687E"/>
                </a:solidFill>
              </a:rPr>
              <a:t>About 4.5 min</a:t>
            </a:r>
            <a:endParaRPr lang="en-US" sz="1300" dirty="0"/>
          </a:p>
        </p:txBody>
      </p:sp>
      <p:sp>
        <p:nvSpPr>
          <p:cNvPr id="31" name="Text 28"/>
          <p:cNvSpPr txBox="1"/>
          <p:nvPr/>
        </p:nvSpPr>
        <p:spPr>
          <a:xfrm>
            <a:off x="9281160" y="4846320"/>
            <a:ext cx="2240280" cy="1097280"/>
          </a:xfrm>
          <a:prstGeom prst="rect">
            <a:avLst/>
          </a:prstGeom>
          <a:noFill/>
          <a:ln/>
        </p:spPr>
        <p:txBody>
          <a:bodyPr wrap="square" lIns="0" tIns="0" rIns="0" bIns="0" rtlCol="0" anchor="t"/>
          <a:lstStyle/>
          <a:p>
            <a:pPr indent="0" marL="0">
              <a:buNone/>
            </a:pPr>
            <a:r>
              <a:rPr lang="en-US" sz="1300" dirty="0">
                <a:solidFill>
                  <a:schemeClr val="tx1"/>
                </a:solidFill>
              </a:rPr>
              <a:t>Kept the test cars separate, filled missing values; built the Ridge model</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Similar cars, very different prices</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1"/>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FFFFFF"/>
                </a:solidFill>
              </a:rPr>
              <a:t>Presenting: Nirodha</a:t>
            </a:r>
            <a:endParaRPr lang="en-US" sz="1300" dirty="0"/>
          </a:p>
        </p:txBody>
      </p:sp>
      <p:sp>
        <p:nvSpPr>
          <p:cNvPr id="6" name="Shape 3"/>
          <p:cNvSpPr/>
          <p:nvPr/>
        </p:nvSpPr>
        <p:spPr>
          <a:xfrm>
            <a:off x="548640" y="1691640"/>
            <a:ext cx="5120640" cy="2011680"/>
          </a:xfrm>
          <a:prstGeom prst="roundRect">
            <a:avLst>
              <a:gd name="adj" fmla="val 5455"/>
            </a:avLst>
          </a:prstGeom>
          <a:solidFill>
            <a:srgbClr val="E6EDFF"/>
          </a:solidFill>
          <a:ln/>
          <a:effectLst>
            <a:outerShdw sx="100000" sy="100000" kx="0" ky="0" algn="bl" rotWithShape="0" blurRad="127000" dist="38100" dir="5400000">
              <a:srgbClr val="0B1220">
                <a:alpha val="14000"/>
              </a:srgbClr>
            </a:outerShdw>
          </a:effectLst>
        </p:spPr>
      </p:sp>
      <p:sp>
        <p:nvSpPr>
          <p:cNvPr id="7" name="Text 4"/>
          <p:cNvSpPr txBox="1"/>
          <p:nvPr/>
        </p:nvSpPr>
        <p:spPr>
          <a:xfrm>
            <a:off x="822960" y="1828800"/>
            <a:ext cx="4572000" cy="914400"/>
          </a:xfrm>
          <a:prstGeom prst="rect">
            <a:avLst/>
          </a:prstGeom>
          <a:noFill/>
          <a:ln/>
        </p:spPr>
        <p:txBody>
          <a:bodyPr wrap="square" lIns="0" tIns="0" rIns="0" bIns="0" rtlCol="0" anchor="ctr"/>
          <a:lstStyle/>
          <a:p>
            <a:pPr indent="0" marL="0">
              <a:buNone/>
            </a:pPr>
            <a:r>
              <a:rPr lang="en-US" sz="5400" b="1" dirty="0">
                <a:solidFill>
                  <a:schemeClr val="accent1"/>
                </a:solidFill>
              </a:rPr>
              <a:t>$15,681</a:t>
            </a:r>
            <a:endParaRPr lang="en-US" sz="5400" dirty="0"/>
          </a:p>
        </p:txBody>
      </p:sp>
      <p:sp>
        <p:nvSpPr>
          <p:cNvPr id="8" name="Text 5"/>
          <p:cNvSpPr txBox="1"/>
          <p:nvPr/>
        </p:nvSpPr>
        <p:spPr>
          <a:xfrm>
            <a:off x="822960" y="2788920"/>
            <a:ext cx="4572000" cy="731520"/>
          </a:xfrm>
          <a:prstGeom prst="rect">
            <a:avLst/>
          </a:prstGeom>
          <a:noFill/>
          <a:ln/>
        </p:spPr>
        <p:txBody>
          <a:bodyPr wrap="square" lIns="0" tIns="0" rIns="0" bIns="0" rtlCol="0" anchor="t"/>
          <a:lstStyle/>
          <a:p>
            <a:pPr indent="0" marL="0">
              <a:buNone/>
            </a:pPr>
            <a:r>
              <a:rPr lang="en-US" sz="1600" dirty="0">
                <a:solidFill>
                  <a:schemeClr val="tx1"/>
                </a:solidFill>
              </a:rPr>
              <a:t>price of the middle used car in our data</a:t>
            </a:r>
            <a:endParaRPr lang="en-US" sz="1600" dirty="0"/>
          </a:p>
        </p:txBody>
      </p:sp>
      <p:sp>
        <p:nvSpPr>
          <p:cNvPr id="9" name="Shape 6"/>
          <p:cNvSpPr/>
          <p:nvPr/>
        </p:nvSpPr>
        <p:spPr>
          <a:xfrm>
            <a:off x="548640" y="3931920"/>
            <a:ext cx="5120640" cy="2103120"/>
          </a:xfrm>
          <a:prstGeom prst="roundRect">
            <a:avLst>
              <a:gd name="adj" fmla="val 5217"/>
            </a:avLst>
          </a:prstGeom>
          <a:solidFill>
            <a:srgbClr val="D9F5F0"/>
          </a:solidFill>
          <a:ln/>
          <a:effectLst>
            <a:outerShdw sx="100000" sy="100000" kx="0" ky="0" algn="bl" rotWithShape="0" blurRad="127000" dist="38100" dir="5400000">
              <a:srgbClr val="0B1220">
                <a:alpha val="14000"/>
              </a:srgbClr>
            </a:outerShdw>
          </a:effectLst>
        </p:spPr>
      </p:sp>
      <p:sp>
        <p:nvSpPr>
          <p:cNvPr id="10" name="Text 7"/>
          <p:cNvSpPr txBox="1"/>
          <p:nvPr/>
        </p:nvSpPr>
        <p:spPr>
          <a:xfrm>
            <a:off x="822960" y="4069080"/>
            <a:ext cx="4572000" cy="914400"/>
          </a:xfrm>
          <a:prstGeom prst="rect">
            <a:avLst/>
          </a:prstGeom>
          <a:noFill/>
          <a:ln/>
        </p:spPr>
        <p:txBody>
          <a:bodyPr wrap="square" lIns="0" tIns="0" rIns="0" bIns="0" rtlCol="0" anchor="ctr"/>
          <a:lstStyle/>
          <a:p>
            <a:pPr indent="0" marL="0">
              <a:buNone/>
            </a:pPr>
            <a:r>
              <a:rPr lang="en-US" sz="4000" b="1" dirty="0">
                <a:solidFill>
                  <a:schemeClr val="accent2"/>
                </a:solidFill>
              </a:rPr>
              <a:t>$9,095 – $24,462</a:t>
            </a:r>
            <a:endParaRPr lang="en-US" sz="4000" dirty="0"/>
          </a:p>
        </p:txBody>
      </p:sp>
      <p:sp>
        <p:nvSpPr>
          <p:cNvPr id="11" name="Text 8"/>
          <p:cNvSpPr txBox="1"/>
          <p:nvPr/>
        </p:nvSpPr>
        <p:spPr>
          <a:xfrm>
            <a:off x="822960" y="5029200"/>
            <a:ext cx="4572000" cy="822960"/>
          </a:xfrm>
          <a:prstGeom prst="rect">
            <a:avLst/>
          </a:prstGeom>
          <a:noFill/>
          <a:ln/>
        </p:spPr>
        <p:txBody>
          <a:bodyPr wrap="square" lIns="0" tIns="0" rIns="0" bIns="0" rtlCol="0" anchor="t"/>
          <a:lstStyle/>
          <a:p>
            <a:pPr indent="0" marL="0">
              <a:buNone/>
            </a:pPr>
            <a:r>
              <a:rPr lang="en-US" sz="1600" dirty="0">
                <a:solidFill>
                  <a:schemeClr val="tx1"/>
                </a:solidFill>
              </a:rPr>
              <a:t>where the middle half of all listings sit, a gap of more than $15,000</a:t>
            </a:r>
            <a:endParaRPr lang="en-US" sz="1600" dirty="0"/>
          </a:p>
        </p:txBody>
      </p:sp>
      <p:sp>
        <p:nvSpPr>
          <p:cNvPr id="12" name="Shape 9"/>
          <p:cNvSpPr/>
          <p:nvPr/>
        </p:nvSpPr>
        <p:spPr>
          <a:xfrm>
            <a:off x="6035040" y="1691640"/>
            <a:ext cx="5577840" cy="1298448"/>
          </a:xfrm>
          <a:prstGeom prst="roundRect">
            <a:avLst>
              <a:gd name="adj" fmla="val 8451"/>
            </a:avLst>
          </a:prstGeom>
          <a:solidFill>
            <a:srgbClr val="E6EDFF"/>
          </a:solidFill>
          <a:ln/>
          <a:effectLst>
            <a:outerShdw sx="100000" sy="100000" kx="0" ky="0" algn="bl" rotWithShape="0" blurRad="127000" dist="38100" dir="5400000">
              <a:srgbClr val="0B1220">
                <a:alpha val="14000"/>
              </a:srgbClr>
            </a:outerShdw>
          </a:effectLst>
        </p:spPr>
      </p:sp>
      <p:sp>
        <p:nvSpPr>
          <p:cNvPr id="13" name="Shape 10"/>
          <p:cNvSpPr/>
          <p:nvPr/>
        </p:nvSpPr>
        <p:spPr>
          <a:xfrm>
            <a:off x="6035040" y="1691640"/>
            <a:ext cx="5577840" cy="1298448"/>
          </a:xfrm>
          <a:prstGeom prst="roundRect">
            <a:avLst>
              <a:gd name="adj" fmla="val 8451"/>
            </a:avLst>
          </a:prstGeom>
          <a:solidFill>
            <a:srgbClr val="FFFFFF">
              <a:alpha val="0"/>
            </a:srgbClr>
          </a:solidFill>
          <a:ln w="15875">
            <a:solidFill>
              <a:srgbClr val="DDE3EE"/>
            </a:solidFill>
            <a:prstDash val="solid"/>
          </a:ln>
        </p:spPr>
      </p:sp>
      <p:sp>
        <p:nvSpPr>
          <p:cNvPr id="14" name="Shape 11"/>
          <p:cNvSpPr/>
          <p:nvPr/>
        </p:nvSpPr>
        <p:spPr>
          <a:xfrm>
            <a:off x="6263640" y="1965960"/>
            <a:ext cx="731520" cy="731520"/>
          </a:xfrm>
          <a:prstGeom prst="ellipse">
            <a:avLst/>
          </a:prstGeom>
          <a:solidFill>
            <a:schemeClr val="accent1"/>
          </a:solidFill>
          <a:ln/>
        </p:spPr>
      </p:sp>
      <p:sp>
        <p:nvSpPr>
          <p:cNvPr id="15" name="Text 12"/>
          <p:cNvSpPr txBox="1"/>
          <p:nvPr/>
        </p:nvSpPr>
        <p:spPr>
          <a:xfrm>
            <a:off x="6263640" y="1965960"/>
            <a:ext cx="731520" cy="731520"/>
          </a:xfrm>
          <a:prstGeom prst="rect">
            <a:avLst/>
          </a:prstGeom>
          <a:noFill/>
          <a:ln/>
        </p:spPr>
        <p:txBody>
          <a:bodyPr wrap="square" lIns="0" tIns="0" rIns="0" bIns="0" rtlCol="0" anchor="ctr"/>
          <a:lstStyle/>
          <a:p>
            <a:pPr algn="ctr" indent="0" marL="0">
              <a:buNone/>
            </a:pPr>
            <a:r>
              <a:rPr lang="en-US" sz="2100" b="1" dirty="0">
                <a:solidFill>
                  <a:schemeClr val="bg1"/>
                </a:solidFill>
              </a:rPr>
              <a:t>B</a:t>
            </a:r>
            <a:endParaRPr lang="en-US" sz="2100" dirty="0"/>
          </a:p>
        </p:txBody>
      </p:sp>
      <p:sp>
        <p:nvSpPr>
          <p:cNvPr id="16" name="Text 13"/>
          <p:cNvSpPr txBox="1"/>
          <p:nvPr/>
        </p:nvSpPr>
        <p:spPr>
          <a:xfrm>
            <a:off x="7178040" y="1892808"/>
            <a:ext cx="4297680" cy="411480"/>
          </a:xfrm>
          <a:prstGeom prst="rect">
            <a:avLst/>
          </a:prstGeom>
          <a:noFill/>
          <a:ln/>
        </p:spPr>
        <p:txBody>
          <a:bodyPr wrap="square" lIns="0" tIns="0" rIns="0" bIns="0" rtlCol="0" anchor="ctr"/>
          <a:lstStyle/>
          <a:p>
            <a:pPr indent="0" marL="0">
              <a:buNone/>
            </a:pPr>
            <a:r>
              <a:rPr lang="en-US" sz="2000" b="1" dirty="0">
                <a:solidFill>
                  <a:schemeClr val="tx1"/>
                </a:solidFill>
              </a:rPr>
              <a:t>Buyers</a:t>
            </a:r>
            <a:endParaRPr lang="en-US" sz="2000" dirty="0"/>
          </a:p>
        </p:txBody>
      </p:sp>
      <p:sp>
        <p:nvSpPr>
          <p:cNvPr id="17" name="Text 14"/>
          <p:cNvSpPr txBox="1"/>
          <p:nvPr/>
        </p:nvSpPr>
        <p:spPr>
          <a:xfrm>
            <a:off x="7178040" y="2350008"/>
            <a:ext cx="4297680" cy="457200"/>
          </a:xfrm>
          <a:prstGeom prst="rect">
            <a:avLst/>
          </a:prstGeom>
          <a:noFill/>
          <a:ln/>
        </p:spPr>
        <p:txBody>
          <a:bodyPr wrap="square" lIns="0" tIns="0" rIns="0" bIns="0" rtlCol="0" anchor="ctr"/>
          <a:lstStyle/>
          <a:p>
            <a:pPr indent="0" marL="0">
              <a:buNone/>
            </a:pPr>
            <a:r>
              <a:rPr lang="en-US" sz="1600" dirty="0">
                <a:solidFill>
                  <a:srgbClr val="5D687E"/>
                </a:solidFill>
              </a:rPr>
              <a:t>Is this asking price fair?</a:t>
            </a:r>
            <a:endParaRPr lang="en-US" sz="1600" dirty="0"/>
          </a:p>
        </p:txBody>
      </p:sp>
      <p:sp>
        <p:nvSpPr>
          <p:cNvPr id="18" name="Shape 15"/>
          <p:cNvSpPr/>
          <p:nvPr/>
        </p:nvSpPr>
        <p:spPr>
          <a:xfrm>
            <a:off x="6035040" y="3172968"/>
            <a:ext cx="5577840" cy="1298448"/>
          </a:xfrm>
          <a:prstGeom prst="roundRect">
            <a:avLst>
              <a:gd name="adj" fmla="val 8451"/>
            </a:avLst>
          </a:prstGeom>
          <a:solidFill>
            <a:srgbClr val="D9F5F0"/>
          </a:solidFill>
          <a:ln/>
          <a:effectLst>
            <a:outerShdw sx="100000" sy="100000" kx="0" ky="0" algn="bl" rotWithShape="0" blurRad="127000" dist="38100" dir="5400000">
              <a:srgbClr val="0B1220">
                <a:alpha val="14000"/>
              </a:srgbClr>
            </a:outerShdw>
          </a:effectLst>
        </p:spPr>
      </p:sp>
      <p:sp>
        <p:nvSpPr>
          <p:cNvPr id="19" name="Shape 16"/>
          <p:cNvSpPr/>
          <p:nvPr/>
        </p:nvSpPr>
        <p:spPr>
          <a:xfrm>
            <a:off x="6035040" y="3172968"/>
            <a:ext cx="5577840" cy="1298448"/>
          </a:xfrm>
          <a:prstGeom prst="roundRect">
            <a:avLst>
              <a:gd name="adj" fmla="val 8451"/>
            </a:avLst>
          </a:prstGeom>
          <a:solidFill>
            <a:srgbClr val="FFFFFF">
              <a:alpha val="0"/>
            </a:srgbClr>
          </a:solidFill>
          <a:ln w="15875">
            <a:solidFill>
              <a:srgbClr val="DDE3EE"/>
            </a:solidFill>
            <a:prstDash val="solid"/>
          </a:ln>
        </p:spPr>
      </p:sp>
      <p:sp>
        <p:nvSpPr>
          <p:cNvPr id="20" name="Shape 17"/>
          <p:cNvSpPr/>
          <p:nvPr/>
        </p:nvSpPr>
        <p:spPr>
          <a:xfrm>
            <a:off x="6263640" y="3447288"/>
            <a:ext cx="731520" cy="731520"/>
          </a:xfrm>
          <a:prstGeom prst="ellipse">
            <a:avLst/>
          </a:prstGeom>
          <a:solidFill>
            <a:schemeClr val="accent2"/>
          </a:solidFill>
          <a:ln/>
        </p:spPr>
      </p:sp>
      <p:sp>
        <p:nvSpPr>
          <p:cNvPr id="21" name="Text 18"/>
          <p:cNvSpPr txBox="1"/>
          <p:nvPr/>
        </p:nvSpPr>
        <p:spPr>
          <a:xfrm>
            <a:off x="6263640" y="3447288"/>
            <a:ext cx="731520" cy="731520"/>
          </a:xfrm>
          <a:prstGeom prst="rect">
            <a:avLst/>
          </a:prstGeom>
          <a:noFill/>
          <a:ln/>
        </p:spPr>
        <p:txBody>
          <a:bodyPr wrap="square" lIns="0" tIns="0" rIns="0" bIns="0" rtlCol="0" anchor="ctr"/>
          <a:lstStyle/>
          <a:p>
            <a:pPr algn="ctr" indent="0" marL="0">
              <a:buNone/>
            </a:pPr>
            <a:r>
              <a:rPr lang="en-US" sz="2100" b="1" dirty="0">
                <a:solidFill>
                  <a:srgbClr val="062B28"/>
                </a:solidFill>
              </a:rPr>
              <a:t>S</a:t>
            </a:r>
            <a:endParaRPr lang="en-US" sz="2100" dirty="0"/>
          </a:p>
        </p:txBody>
      </p:sp>
      <p:sp>
        <p:nvSpPr>
          <p:cNvPr id="22" name="Text 19"/>
          <p:cNvSpPr txBox="1"/>
          <p:nvPr/>
        </p:nvSpPr>
        <p:spPr>
          <a:xfrm>
            <a:off x="7178040" y="3374136"/>
            <a:ext cx="4297680" cy="411480"/>
          </a:xfrm>
          <a:prstGeom prst="rect">
            <a:avLst/>
          </a:prstGeom>
          <a:noFill/>
          <a:ln/>
        </p:spPr>
        <p:txBody>
          <a:bodyPr wrap="square" lIns="0" tIns="0" rIns="0" bIns="0" rtlCol="0" anchor="ctr"/>
          <a:lstStyle/>
          <a:p>
            <a:pPr indent="0" marL="0">
              <a:buNone/>
            </a:pPr>
            <a:r>
              <a:rPr lang="en-US" sz="2000" b="1" dirty="0">
                <a:solidFill>
                  <a:schemeClr val="tx1"/>
                </a:solidFill>
              </a:rPr>
              <a:t>Sellers</a:t>
            </a:r>
            <a:endParaRPr lang="en-US" sz="2000" dirty="0"/>
          </a:p>
        </p:txBody>
      </p:sp>
      <p:sp>
        <p:nvSpPr>
          <p:cNvPr id="23" name="Text 20"/>
          <p:cNvSpPr txBox="1"/>
          <p:nvPr/>
        </p:nvSpPr>
        <p:spPr>
          <a:xfrm>
            <a:off x="7178040" y="3831336"/>
            <a:ext cx="4297680" cy="457200"/>
          </a:xfrm>
          <a:prstGeom prst="rect">
            <a:avLst/>
          </a:prstGeom>
          <a:noFill/>
          <a:ln/>
        </p:spPr>
        <p:txBody>
          <a:bodyPr wrap="square" lIns="0" tIns="0" rIns="0" bIns="0" rtlCol="0" anchor="ctr"/>
          <a:lstStyle/>
          <a:p>
            <a:pPr indent="0" marL="0">
              <a:buNone/>
            </a:pPr>
            <a:r>
              <a:rPr lang="en-US" sz="1600" dirty="0">
                <a:solidFill>
                  <a:srgbClr val="5D687E"/>
                </a:solidFill>
              </a:rPr>
              <a:t>What should I ask for my car?</a:t>
            </a:r>
            <a:endParaRPr lang="en-US" sz="1600" dirty="0"/>
          </a:p>
        </p:txBody>
      </p:sp>
      <p:sp>
        <p:nvSpPr>
          <p:cNvPr id="24" name="Shape 21"/>
          <p:cNvSpPr/>
          <p:nvPr/>
        </p:nvSpPr>
        <p:spPr>
          <a:xfrm>
            <a:off x="6035040" y="4654296"/>
            <a:ext cx="5577840" cy="1298448"/>
          </a:xfrm>
          <a:prstGeom prst="roundRect">
            <a:avLst>
              <a:gd name="adj" fmla="val 8451"/>
            </a:avLst>
          </a:prstGeom>
          <a:solidFill>
            <a:srgbClr val="FFE3DD"/>
          </a:solidFill>
          <a:ln/>
          <a:effectLst>
            <a:outerShdw sx="100000" sy="100000" kx="0" ky="0" algn="bl" rotWithShape="0" blurRad="127000" dist="38100" dir="5400000">
              <a:srgbClr val="0B1220">
                <a:alpha val="14000"/>
              </a:srgbClr>
            </a:outerShdw>
          </a:effectLst>
        </p:spPr>
      </p:sp>
      <p:sp>
        <p:nvSpPr>
          <p:cNvPr id="25" name="Shape 22"/>
          <p:cNvSpPr/>
          <p:nvPr/>
        </p:nvSpPr>
        <p:spPr>
          <a:xfrm>
            <a:off x="6035040" y="4654296"/>
            <a:ext cx="5577840" cy="1298448"/>
          </a:xfrm>
          <a:prstGeom prst="roundRect">
            <a:avLst>
              <a:gd name="adj" fmla="val 8451"/>
            </a:avLst>
          </a:prstGeom>
          <a:solidFill>
            <a:srgbClr val="FFFFFF">
              <a:alpha val="0"/>
            </a:srgbClr>
          </a:solidFill>
          <a:ln w="15875">
            <a:solidFill>
              <a:srgbClr val="DDE3EE"/>
            </a:solidFill>
            <a:prstDash val="solid"/>
          </a:ln>
        </p:spPr>
      </p:sp>
      <p:sp>
        <p:nvSpPr>
          <p:cNvPr id="26" name="Shape 23"/>
          <p:cNvSpPr/>
          <p:nvPr/>
        </p:nvSpPr>
        <p:spPr>
          <a:xfrm>
            <a:off x="6263640" y="4928616"/>
            <a:ext cx="731520" cy="731520"/>
          </a:xfrm>
          <a:prstGeom prst="ellipse">
            <a:avLst/>
          </a:prstGeom>
          <a:solidFill>
            <a:schemeClr val="accent4"/>
          </a:solidFill>
          <a:ln/>
        </p:spPr>
      </p:sp>
      <p:sp>
        <p:nvSpPr>
          <p:cNvPr id="27" name="Text 24"/>
          <p:cNvSpPr txBox="1"/>
          <p:nvPr/>
        </p:nvSpPr>
        <p:spPr>
          <a:xfrm>
            <a:off x="6263640" y="4928616"/>
            <a:ext cx="731520" cy="731520"/>
          </a:xfrm>
          <a:prstGeom prst="rect">
            <a:avLst/>
          </a:prstGeom>
          <a:noFill/>
          <a:ln/>
        </p:spPr>
        <p:txBody>
          <a:bodyPr wrap="square" lIns="0" tIns="0" rIns="0" bIns="0" rtlCol="0" anchor="ctr"/>
          <a:lstStyle/>
          <a:p>
            <a:pPr algn="ctr" indent="0" marL="0">
              <a:buNone/>
            </a:pPr>
            <a:r>
              <a:rPr lang="en-US" sz="2100" b="1" dirty="0">
                <a:solidFill>
                  <a:schemeClr val="bg1"/>
                </a:solidFill>
              </a:rPr>
              <a:t>D</a:t>
            </a:r>
            <a:endParaRPr lang="en-US" sz="2100" dirty="0"/>
          </a:p>
        </p:txBody>
      </p:sp>
      <p:sp>
        <p:nvSpPr>
          <p:cNvPr id="28" name="Text 25"/>
          <p:cNvSpPr txBox="1"/>
          <p:nvPr/>
        </p:nvSpPr>
        <p:spPr>
          <a:xfrm>
            <a:off x="7178040" y="4855464"/>
            <a:ext cx="4297680" cy="411480"/>
          </a:xfrm>
          <a:prstGeom prst="rect">
            <a:avLst/>
          </a:prstGeom>
          <a:noFill/>
          <a:ln/>
        </p:spPr>
        <p:txBody>
          <a:bodyPr wrap="square" lIns="0" tIns="0" rIns="0" bIns="0" rtlCol="0" anchor="ctr"/>
          <a:lstStyle/>
          <a:p>
            <a:pPr indent="0" marL="0">
              <a:buNone/>
            </a:pPr>
            <a:r>
              <a:rPr lang="en-US" sz="2000" b="1" dirty="0">
                <a:solidFill>
                  <a:schemeClr val="tx1"/>
                </a:solidFill>
              </a:rPr>
              <a:t>Dealers</a:t>
            </a:r>
            <a:endParaRPr lang="en-US" sz="2000" dirty="0"/>
          </a:p>
        </p:txBody>
      </p:sp>
      <p:sp>
        <p:nvSpPr>
          <p:cNvPr id="29" name="Text 26"/>
          <p:cNvSpPr txBox="1"/>
          <p:nvPr/>
        </p:nvSpPr>
        <p:spPr>
          <a:xfrm>
            <a:off x="7178040" y="5312664"/>
            <a:ext cx="4297680" cy="457200"/>
          </a:xfrm>
          <a:prstGeom prst="rect">
            <a:avLst/>
          </a:prstGeom>
          <a:noFill/>
          <a:ln/>
        </p:spPr>
        <p:txBody>
          <a:bodyPr wrap="square" lIns="0" tIns="0" rIns="0" bIns="0" rtlCol="0" anchor="ctr"/>
          <a:lstStyle/>
          <a:p>
            <a:pPr indent="0" marL="0">
              <a:buNone/>
            </a:pPr>
            <a:r>
              <a:rPr lang="en-US" sz="1600" dirty="0">
                <a:solidFill>
                  <a:srgbClr val="5D687E"/>
                </a:solidFill>
              </a:rPr>
              <a:t>What is this trade-in worth, right now?</a:t>
            </a:r>
            <a:endParaRPr lang="en-US" sz="1600" dirty="0"/>
          </a:p>
        </p:txBody>
      </p:sp>
      <p:sp>
        <p:nvSpPr>
          <p:cNvPr id="30" name="Text 27"/>
          <p:cNvSpPr txBox="1"/>
          <p:nvPr/>
        </p:nvSpPr>
        <p:spPr>
          <a:xfrm>
            <a:off x="6035040" y="5989320"/>
            <a:ext cx="5577840" cy="365760"/>
          </a:xfrm>
          <a:prstGeom prst="rect">
            <a:avLst/>
          </a:prstGeom>
          <a:noFill/>
          <a:ln/>
        </p:spPr>
        <p:txBody>
          <a:bodyPr wrap="square" lIns="0" tIns="0" rIns="0" bIns="0" rtlCol="0" anchor="ctr"/>
          <a:lstStyle/>
          <a:p>
            <a:pPr indent="0" marL="0">
              <a:buNone/>
            </a:pPr>
            <a:r>
              <a:rPr lang="en-US" sz="1400" b="1" dirty="0">
                <a:solidFill>
                  <a:schemeClr val="tx1"/>
                </a:solidFill>
              </a:rPr>
              <a:t>Why it matters: a wrong price costs money, time and trust in the market.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Tell us the car and we estimate the price</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1"/>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FFFFFF"/>
                </a:solidFill>
              </a:rPr>
              <a:t>Presenting: Nirodha</a:t>
            </a:r>
            <a:endParaRPr lang="en-US" sz="1300" dirty="0"/>
          </a:p>
        </p:txBody>
      </p:sp>
      <p:sp>
        <p:nvSpPr>
          <p:cNvPr id="6" name="Shape 3"/>
          <p:cNvSpPr/>
          <p:nvPr/>
        </p:nvSpPr>
        <p:spPr>
          <a:xfrm>
            <a:off x="548640" y="1691640"/>
            <a:ext cx="3520440" cy="2148840"/>
          </a:xfrm>
          <a:prstGeom prst="roundRect">
            <a:avLst>
              <a:gd name="adj" fmla="val 5106"/>
            </a:avLst>
          </a:prstGeom>
          <a:solidFill>
            <a:srgbClr val="E6EDFF"/>
          </a:solidFill>
          <a:ln/>
          <a:effectLst>
            <a:outerShdw sx="100000" sy="100000" kx="0" ky="0" algn="bl" rotWithShape="0" blurRad="127000" dist="38100" dir="5400000">
              <a:srgbClr val="0B1220">
                <a:alpha val="14000"/>
              </a:srgbClr>
            </a:outerShdw>
          </a:effectLst>
        </p:spPr>
      </p:sp>
      <p:sp>
        <p:nvSpPr>
          <p:cNvPr id="7" name="Shape 4"/>
          <p:cNvSpPr/>
          <p:nvPr/>
        </p:nvSpPr>
        <p:spPr>
          <a:xfrm>
            <a:off x="777240" y="1920240"/>
            <a:ext cx="640080" cy="640080"/>
          </a:xfrm>
          <a:prstGeom prst="ellipse">
            <a:avLst/>
          </a:prstGeom>
          <a:solidFill>
            <a:schemeClr val="accent1"/>
          </a:solidFill>
          <a:ln/>
        </p:spPr>
      </p:sp>
      <p:sp>
        <p:nvSpPr>
          <p:cNvPr id="8" name="Text 5"/>
          <p:cNvSpPr txBox="1"/>
          <p:nvPr/>
        </p:nvSpPr>
        <p:spPr>
          <a:xfrm>
            <a:off x="777240" y="19202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1554480" y="1920240"/>
            <a:ext cx="2377440" cy="685800"/>
          </a:xfrm>
          <a:prstGeom prst="rect">
            <a:avLst/>
          </a:prstGeom>
          <a:noFill/>
          <a:ln/>
        </p:spPr>
        <p:txBody>
          <a:bodyPr wrap="square" lIns="0" tIns="0" rIns="0" bIns="0" rtlCol="0" anchor="ctr"/>
          <a:lstStyle/>
          <a:p>
            <a:pPr indent="0" marL="0">
              <a:buNone/>
            </a:pPr>
            <a:r>
              <a:rPr lang="en-US" sz="1800" b="1" dirty="0">
                <a:solidFill>
                  <a:schemeClr val="tx1"/>
                </a:solidFill>
              </a:rPr>
              <a:t>You describe the car</a:t>
            </a:r>
            <a:endParaRPr lang="en-US" sz="1800" dirty="0"/>
          </a:p>
        </p:txBody>
      </p:sp>
      <p:sp>
        <p:nvSpPr>
          <p:cNvPr id="10" name="Text 7"/>
          <p:cNvSpPr txBox="1"/>
          <p:nvPr/>
        </p:nvSpPr>
        <p:spPr>
          <a:xfrm>
            <a:off x="777240" y="2743200"/>
            <a:ext cx="3108960" cy="1005840"/>
          </a:xfrm>
          <a:prstGeom prst="rect">
            <a:avLst/>
          </a:prstGeom>
          <a:noFill/>
          <a:ln/>
        </p:spPr>
        <p:txBody>
          <a:bodyPr wrap="square" lIns="0" tIns="0" rIns="0" bIns="0" rtlCol="0" anchor="t"/>
          <a:lstStyle/>
          <a:p>
            <a:pPr indent="0" marL="0">
              <a:buNone/>
            </a:pPr>
            <a:r>
              <a:rPr lang="en-US" sz="1500" dirty="0">
                <a:solidFill>
                  <a:srgbClr val="3B4660"/>
                </a:solidFill>
              </a:rPr>
              <a:t>Make, year, mileage, engine, equipment: about 15 simple fields</a:t>
            </a:r>
            <a:endParaRPr lang="en-US" sz="1500" dirty="0"/>
          </a:p>
        </p:txBody>
      </p:sp>
      <p:sp>
        <p:nvSpPr>
          <p:cNvPr id="11" name="Text 8"/>
          <p:cNvSpPr txBox="1"/>
          <p:nvPr/>
        </p:nvSpPr>
        <p:spPr>
          <a:xfrm>
            <a:off x="4069080" y="2514600"/>
            <a:ext cx="274320" cy="548640"/>
          </a:xfrm>
          <a:prstGeom prst="rect">
            <a:avLst/>
          </a:prstGeom>
          <a:noFill/>
          <a:ln/>
        </p:spPr>
        <p:txBody>
          <a:bodyPr wrap="square" lIns="0" tIns="0" rIns="0" bIns="0" rtlCol="0" anchor="ctr"/>
          <a:lstStyle/>
          <a:p>
            <a:pPr algn="ctr" indent="0" marL="0">
              <a:buNone/>
            </a:pPr>
            <a:r>
              <a:rPr lang="en-US" sz="2800" b="1" dirty="0">
                <a:solidFill>
                  <a:srgbClr val="8C98B5"/>
                </a:solidFill>
              </a:rPr>
              <a:t>→</a:t>
            </a:r>
            <a:endParaRPr lang="en-US" sz="2800" dirty="0"/>
          </a:p>
        </p:txBody>
      </p:sp>
      <p:sp>
        <p:nvSpPr>
          <p:cNvPr id="12" name="Shape 9"/>
          <p:cNvSpPr/>
          <p:nvPr/>
        </p:nvSpPr>
        <p:spPr>
          <a:xfrm>
            <a:off x="4343400" y="1691640"/>
            <a:ext cx="3520440" cy="2148840"/>
          </a:xfrm>
          <a:prstGeom prst="roundRect">
            <a:avLst>
              <a:gd name="adj" fmla="val 5106"/>
            </a:avLst>
          </a:prstGeom>
          <a:solidFill>
            <a:srgbClr val="D9F5F0"/>
          </a:solidFill>
          <a:ln/>
          <a:effectLst>
            <a:outerShdw sx="100000" sy="100000" kx="0" ky="0" algn="bl" rotWithShape="0" blurRad="127000" dist="38100" dir="5400000">
              <a:srgbClr val="0B1220">
                <a:alpha val="14000"/>
              </a:srgbClr>
            </a:outerShdw>
          </a:effectLst>
        </p:spPr>
      </p:sp>
      <p:sp>
        <p:nvSpPr>
          <p:cNvPr id="13" name="Shape 10"/>
          <p:cNvSpPr/>
          <p:nvPr/>
        </p:nvSpPr>
        <p:spPr>
          <a:xfrm>
            <a:off x="4572000" y="1920240"/>
            <a:ext cx="640080" cy="640080"/>
          </a:xfrm>
          <a:prstGeom prst="ellipse">
            <a:avLst/>
          </a:prstGeom>
          <a:solidFill>
            <a:schemeClr val="accent2"/>
          </a:solidFill>
          <a:ln/>
        </p:spPr>
      </p:sp>
      <p:sp>
        <p:nvSpPr>
          <p:cNvPr id="14" name="Text 11"/>
          <p:cNvSpPr txBox="1"/>
          <p:nvPr/>
        </p:nvSpPr>
        <p:spPr>
          <a:xfrm>
            <a:off x="4572000" y="1920240"/>
            <a:ext cx="640080" cy="640080"/>
          </a:xfrm>
          <a:prstGeom prst="rect">
            <a:avLst/>
          </a:prstGeom>
          <a:noFill/>
          <a:ln/>
        </p:spPr>
        <p:txBody>
          <a:bodyPr wrap="square" lIns="0" tIns="0" rIns="0" bIns="0" rtlCol="0" anchor="ctr"/>
          <a:lstStyle/>
          <a:p>
            <a:pPr algn="ctr" indent="0" marL="0">
              <a:buNone/>
            </a:pPr>
            <a:r>
              <a:rPr lang="en-US" sz="1800" b="1" dirty="0">
                <a:solidFill>
                  <a:srgbClr val="062B28"/>
                </a:solidFill>
              </a:rPr>
              <a:t>2</a:t>
            </a:r>
            <a:endParaRPr lang="en-US" sz="1800" dirty="0"/>
          </a:p>
        </p:txBody>
      </p:sp>
      <p:sp>
        <p:nvSpPr>
          <p:cNvPr id="15" name="Text 12"/>
          <p:cNvSpPr txBox="1"/>
          <p:nvPr/>
        </p:nvSpPr>
        <p:spPr>
          <a:xfrm>
            <a:off x="5349240" y="1920240"/>
            <a:ext cx="2377440" cy="685800"/>
          </a:xfrm>
          <a:prstGeom prst="rect">
            <a:avLst/>
          </a:prstGeom>
          <a:noFill/>
          <a:ln/>
        </p:spPr>
        <p:txBody>
          <a:bodyPr wrap="square" lIns="0" tIns="0" rIns="0" bIns="0" rtlCol="0" anchor="ctr"/>
          <a:lstStyle/>
          <a:p>
            <a:pPr indent="0" marL="0">
              <a:buNone/>
            </a:pPr>
            <a:r>
              <a:rPr lang="en-US" sz="1800" b="1" dirty="0">
                <a:solidFill>
                  <a:schemeClr val="tx1"/>
                </a:solidFill>
              </a:rPr>
              <a:t>We compare it with real listings</a:t>
            </a:r>
            <a:endParaRPr lang="en-US" sz="1800" dirty="0"/>
          </a:p>
        </p:txBody>
      </p:sp>
      <p:sp>
        <p:nvSpPr>
          <p:cNvPr id="16" name="Text 13"/>
          <p:cNvSpPr txBox="1"/>
          <p:nvPr/>
        </p:nvSpPr>
        <p:spPr>
          <a:xfrm>
            <a:off x="4572000" y="2743200"/>
            <a:ext cx="3108960" cy="1005840"/>
          </a:xfrm>
          <a:prstGeom prst="rect">
            <a:avLst/>
          </a:prstGeom>
          <a:noFill/>
          <a:ln/>
        </p:spPr>
        <p:txBody>
          <a:bodyPr wrap="square" lIns="0" tIns="0" rIns="0" bIns="0" rtlCol="0" anchor="t"/>
          <a:lstStyle/>
          <a:p>
            <a:pPr indent="0" marL="0">
              <a:buNone/>
            </a:pPr>
            <a:r>
              <a:rPr lang="en-US" sz="1500" dirty="0">
                <a:solidFill>
                  <a:srgbClr val="3B4660"/>
                </a:solidFill>
              </a:rPr>
              <a:t>What the model learned from 14,011 cars that were really advertised</a:t>
            </a:r>
            <a:endParaRPr lang="en-US" sz="1500" dirty="0"/>
          </a:p>
        </p:txBody>
      </p:sp>
      <p:sp>
        <p:nvSpPr>
          <p:cNvPr id="17" name="Text 14"/>
          <p:cNvSpPr txBox="1"/>
          <p:nvPr/>
        </p:nvSpPr>
        <p:spPr>
          <a:xfrm>
            <a:off x="7863840" y="2514600"/>
            <a:ext cx="274320" cy="548640"/>
          </a:xfrm>
          <a:prstGeom prst="rect">
            <a:avLst/>
          </a:prstGeom>
          <a:noFill/>
          <a:ln/>
        </p:spPr>
        <p:txBody>
          <a:bodyPr wrap="square" lIns="0" tIns="0" rIns="0" bIns="0" rtlCol="0" anchor="ctr"/>
          <a:lstStyle/>
          <a:p>
            <a:pPr algn="ctr" indent="0" marL="0">
              <a:buNone/>
            </a:pPr>
            <a:r>
              <a:rPr lang="en-US" sz="2800" b="1" dirty="0">
                <a:solidFill>
                  <a:srgbClr val="8C98B5"/>
                </a:solidFill>
              </a:rPr>
              <a:t>→</a:t>
            </a:r>
            <a:endParaRPr lang="en-US" sz="2800" dirty="0"/>
          </a:p>
        </p:txBody>
      </p:sp>
      <p:sp>
        <p:nvSpPr>
          <p:cNvPr id="18" name="Shape 15"/>
          <p:cNvSpPr/>
          <p:nvPr/>
        </p:nvSpPr>
        <p:spPr>
          <a:xfrm>
            <a:off x="8138160" y="1691640"/>
            <a:ext cx="3520440" cy="2148840"/>
          </a:xfrm>
          <a:prstGeom prst="roundRect">
            <a:avLst>
              <a:gd name="adj" fmla="val 5106"/>
            </a:avLst>
          </a:prstGeom>
          <a:solidFill>
            <a:srgbClr val="FFE3DD"/>
          </a:solidFill>
          <a:ln/>
          <a:effectLst>
            <a:outerShdw sx="100000" sy="100000" kx="0" ky="0" algn="bl" rotWithShape="0" blurRad="127000" dist="38100" dir="5400000">
              <a:srgbClr val="0B1220">
                <a:alpha val="14000"/>
              </a:srgbClr>
            </a:outerShdw>
          </a:effectLst>
        </p:spPr>
      </p:sp>
      <p:sp>
        <p:nvSpPr>
          <p:cNvPr id="19" name="Shape 16"/>
          <p:cNvSpPr/>
          <p:nvPr/>
        </p:nvSpPr>
        <p:spPr>
          <a:xfrm>
            <a:off x="8366760" y="1920240"/>
            <a:ext cx="640080" cy="640080"/>
          </a:xfrm>
          <a:prstGeom prst="ellipse">
            <a:avLst/>
          </a:prstGeom>
          <a:solidFill>
            <a:schemeClr val="accent4"/>
          </a:solidFill>
          <a:ln/>
        </p:spPr>
      </p:sp>
      <p:sp>
        <p:nvSpPr>
          <p:cNvPr id="20" name="Text 17"/>
          <p:cNvSpPr txBox="1"/>
          <p:nvPr/>
        </p:nvSpPr>
        <p:spPr>
          <a:xfrm>
            <a:off x="8366760" y="19202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8"/>
          <p:cNvSpPr txBox="1"/>
          <p:nvPr/>
        </p:nvSpPr>
        <p:spPr>
          <a:xfrm>
            <a:off x="9144000" y="1920240"/>
            <a:ext cx="2377440" cy="685800"/>
          </a:xfrm>
          <a:prstGeom prst="rect">
            <a:avLst/>
          </a:prstGeom>
          <a:noFill/>
          <a:ln/>
        </p:spPr>
        <p:txBody>
          <a:bodyPr wrap="square" lIns="0" tIns="0" rIns="0" bIns="0" rtlCol="0" anchor="ctr"/>
          <a:lstStyle/>
          <a:p>
            <a:pPr indent="0" marL="0">
              <a:buNone/>
            </a:pPr>
            <a:r>
              <a:rPr lang="en-US" sz="1800" b="1" dirty="0">
                <a:solidFill>
                  <a:schemeClr val="tx1"/>
                </a:solidFill>
              </a:rPr>
              <a:t>You get an answer you can use</a:t>
            </a:r>
            <a:endParaRPr lang="en-US" sz="1800" dirty="0"/>
          </a:p>
        </p:txBody>
      </p:sp>
      <p:sp>
        <p:nvSpPr>
          <p:cNvPr id="22" name="Text 19"/>
          <p:cNvSpPr txBox="1"/>
          <p:nvPr/>
        </p:nvSpPr>
        <p:spPr>
          <a:xfrm>
            <a:off x="8366760" y="2743200"/>
            <a:ext cx="3108960" cy="1005840"/>
          </a:xfrm>
          <a:prstGeom prst="rect">
            <a:avLst/>
          </a:prstGeom>
          <a:noFill/>
          <a:ln/>
        </p:spPr>
        <p:txBody>
          <a:bodyPr wrap="square" lIns="0" tIns="0" rIns="0" bIns="0" rtlCol="0" anchor="t"/>
          <a:lstStyle/>
          <a:p>
            <a:pPr indent="0" marL="0">
              <a:buNone/>
            </a:pPr>
            <a:r>
              <a:rPr lang="en-US" sz="1500" dirty="0">
                <a:solidFill>
                  <a:srgbClr val="3B4660"/>
                </a:solidFill>
              </a:rPr>
              <a:t>A price, a likely range and a check of any asking price</a:t>
            </a:r>
            <a:endParaRPr lang="en-US" sz="1500" dirty="0"/>
          </a:p>
        </p:txBody>
      </p:sp>
      <p:sp>
        <p:nvSpPr>
          <p:cNvPr id="23" name="Text 20"/>
          <p:cNvSpPr txBox="1"/>
          <p:nvPr/>
        </p:nvSpPr>
        <p:spPr>
          <a:xfrm>
            <a:off x="548640" y="4114800"/>
            <a:ext cx="5486400" cy="411480"/>
          </a:xfrm>
          <a:prstGeom prst="rect">
            <a:avLst/>
          </a:prstGeom>
          <a:noFill/>
          <a:ln/>
        </p:spPr>
        <p:txBody>
          <a:bodyPr wrap="square" lIns="0" tIns="0" rIns="0" bIns="0" rtlCol="0" anchor="ctr"/>
          <a:lstStyle/>
          <a:p>
            <a:pPr indent="0" marL="0">
              <a:buNone/>
            </a:pPr>
            <a:r>
              <a:rPr lang="en-US" sz="2000" b="1" dirty="0">
                <a:solidFill>
                  <a:schemeClr val="tx1"/>
                </a:solidFill>
              </a:rPr>
              <a:t>What you get back</a:t>
            </a:r>
            <a:endParaRPr lang="en-US" sz="2000" dirty="0"/>
          </a:p>
        </p:txBody>
      </p:sp>
      <p:sp>
        <p:nvSpPr>
          <p:cNvPr id="24" name="Text 21"/>
          <p:cNvSpPr txBox="1"/>
          <p:nvPr/>
        </p:nvSpPr>
        <p:spPr>
          <a:xfrm>
            <a:off x="548640" y="4572000"/>
            <a:ext cx="667512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An estimated price in US dollars</a:t>
            </a:r>
            <a:endParaRPr lang="en-US" sz="1600" dirty="0"/>
          </a:p>
          <a:p>
            <a:pPr marL="342900" indent="-342900">
              <a:spcAft>
                <a:spcPts val="600"/>
              </a:spcAft>
              <a:buSzPct val="100000"/>
              <a:buChar char="•"/>
            </a:pPr>
            <a:r>
              <a:rPr lang="en-US" sz="1600" dirty="0">
                <a:solidFill>
                  <a:schemeClr val="tx1"/>
                </a:solidFill>
              </a:rPr>
              <a:t>A likely range, where the real price fell for 80% of test cars</a:t>
            </a:r>
            <a:endParaRPr lang="en-US" sz="1600" dirty="0"/>
          </a:p>
          <a:p>
            <a:pPr marL="342900" indent="-342900">
              <a:spcAft>
                <a:spcPts val="600"/>
              </a:spcAft>
              <a:buSzPct val="100000"/>
              <a:buChar char="•"/>
            </a:pPr>
            <a:r>
              <a:rPr lang="en-US" sz="1600" dirty="0">
                <a:solidFill>
                  <a:schemeClr val="tx1"/>
                </a:solidFill>
              </a:rPr>
              <a:t>A fair-price check if you enter an asking price</a:t>
            </a:r>
            <a:endParaRPr lang="en-US" sz="1600" dirty="0"/>
          </a:p>
          <a:p>
            <a:pPr marL="342900" indent="-342900">
              <a:spcAft>
                <a:spcPts val="600"/>
              </a:spcAft>
              <a:buSzPct val="100000"/>
              <a:buChar char="•"/>
            </a:pPr>
            <a:r>
              <a:rPr lang="en-US" sz="1600" dirty="0">
                <a:solidFill>
                  <a:schemeClr val="tx1"/>
                </a:solidFill>
              </a:rPr>
              <a:t>The answers of four different models side by side</a:t>
            </a:r>
            <a:endParaRPr lang="en-US" sz="1600" dirty="0"/>
          </a:p>
        </p:txBody>
      </p:sp>
      <p:sp>
        <p:nvSpPr>
          <p:cNvPr id="25" name="Shape 22"/>
          <p:cNvSpPr/>
          <p:nvPr/>
        </p:nvSpPr>
        <p:spPr>
          <a:xfrm>
            <a:off x="8110728" y="4133088"/>
            <a:ext cx="3566160" cy="2269375"/>
          </a:xfrm>
          <a:prstGeom prst="roundRect">
            <a:avLst>
              <a:gd name="adj" fmla="val 12088"/>
            </a:avLst>
          </a:prstGeom>
          <a:solidFill>
            <a:schemeClr val="accent4"/>
          </a:solidFill>
          <a:ln/>
        </p:spPr>
      </p:sp>
      <p:pic>
        <p:nvPicPr>
          <p:cNvPr id="26" name="Image 0" descr="Photo of a white Toyota GR Yaris in front of a city at night">    </p:cNvPr>
          <p:cNvPicPr>
            <a:picLocks noChangeAspect="1"/>
          </p:cNvPicPr>
          <p:nvPr/>
        </p:nvPicPr>
        <p:blipFill>
          <a:blip r:embed="rId2"/>
          <a:stretch>
            <a:fillRect/>
          </a:stretch>
        </p:blipFill>
        <p:spPr>
          <a:xfrm>
            <a:off x="8001000" y="4023360"/>
            <a:ext cx="3566160" cy="2269375"/>
          </a:xfrm>
          <a:prstGeom prst="rect">
            <a:avLst/>
          </a:prstGeom>
        </p:spPr>
      </p:pic>
      <p:sp>
        <p:nvSpPr>
          <p:cNvPr id="27" name="Shape 23"/>
          <p:cNvSpPr/>
          <p:nvPr/>
        </p:nvSpPr>
        <p:spPr>
          <a:xfrm>
            <a:off x="8183880" y="4160520"/>
            <a:ext cx="1737360" cy="365760"/>
          </a:xfrm>
          <a:prstGeom prst="roundRect">
            <a:avLst>
              <a:gd name="adj" fmla="val 50000"/>
            </a:avLst>
          </a:prstGeom>
          <a:solidFill>
            <a:schemeClr val="accent4"/>
          </a:solidFill>
          <a:ln/>
        </p:spPr>
      </p:sp>
      <p:sp>
        <p:nvSpPr>
          <p:cNvPr id="28" name="Text 24"/>
          <p:cNvSpPr txBox="1"/>
          <p:nvPr/>
        </p:nvSpPr>
        <p:spPr>
          <a:xfrm>
            <a:off x="8183880" y="4160520"/>
            <a:ext cx="1737360" cy="365760"/>
          </a:xfrm>
          <a:prstGeom prst="rect">
            <a:avLst/>
          </a:prstGeom>
          <a:noFill/>
          <a:ln/>
        </p:spPr>
        <p:txBody>
          <a:bodyPr wrap="square" lIns="0" tIns="0" rIns="0" bIns="0" rtlCol="0" anchor="ctr"/>
          <a:lstStyle/>
          <a:p>
            <a:pPr algn="ctr" indent="0" marL="0">
              <a:buNone/>
            </a:pPr>
            <a:r>
              <a:rPr lang="en-US" sz="1200" b="1" dirty="0">
                <a:solidFill>
                  <a:srgbClr val="2A0A05"/>
                </a:solidFill>
              </a:rPr>
              <a:t>Toyota GR Yaris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We kept the listings we could trust</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2"/>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062B28"/>
                </a:solidFill>
              </a:rPr>
              <a:t>Presenting: Wijerathna</a:t>
            </a:r>
            <a:endParaRPr lang="en-US" sz="1300" dirty="0"/>
          </a:p>
        </p:txBody>
      </p:sp>
      <p:sp>
        <p:nvSpPr>
          <p:cNvPr id="6" name="Shape 3"/>
          <p:cNvSpPr/>
          <p:nvPr/>
        </p:nvSpPr>
        <p:spPr>
          <a:xfrm>
            <a:off x="548640" y="1737360"/>
            <a:ext cx="6400800" cy="1005840"/>
          </a:xfrm>
          <a:prstGeom prst="roundRect">
            <a:avLst>
              <a:gd name="adj" fmla="val 9091"/>
            </a:avLst>
          </a:prstGeom>
          <a:solidFill>
            <a:schemeClr val="accent1"/>
          </a:solidFill>
          <a:ln/>
        </p:spPr>
      </p:sp>
      <p:sp>
        <p:nvSpPr>
          <p:cNvPr id="7" name="Text 4"/>
          <p:cNvSpPr txBox="1"/>
          <p:nvPr/>
        </p:nvSpPr>
        <p:spPr>
          <a:xfrm>
            <a:off x="777240" y="1737360"/>
            <a:ext cx="2194560" cy="1005840"/>
          </a:xfrm>
          <a:prstGeom prst="rect">
            <a:avLst/>
          </a:prstGeom>
          <a:noFill/>
          <a:ln/>
        </p:spPr>
        <p:txBody>
          <a:bodyPr wrap="square" lIns="0" tIns="0" rIns="0" bIns="0" rtlCol="0" anchor="ctr"/>
          <a:lstStyle/>
          <a:p>
            <a:pPr indent="0" marL="0">
              <a:buNone/>
            </a:pPr>
            <a:r>
              <a:rPr lang="en-US" sz="3200" b="1" dirty="0">
                <a:solidFill>
                  <a:schemeClr val="bg1"/>
                </a:solidFill>
              </a:rPr>
              <a:t>19,237</a:t>
            </a:r>
            <a:endParaRPr lang="en-US" sz="3200" dirty="0"/>
          </a:p>
        </p:txBody>
      </p:sp>
      <p:sp>
        <p:nvSpPr>
          <p:cNvPr id="8" name="Text 5"/>
          <p:cNvSpPr txBox="1"/>
          <p:nvPr/>
        </p:nvSpPr>
        <p:spPr>
          <a:xfrm>
            <a:off x="548640" y="2743200"/>
            <a:ext cx="6400800" cy="274320"/>
          </a:xfrm>
          <a:prstGeom prst="rect">
            <a:avLst/>
          </a:prstGeom>
          <a:noFill/>
          <a:ln/>
        </p:spPr>
        <p:txBody>
          <a:bodyPr wrap="square" lIns="0" tIns="0" rIns="0" bIns="0" rtlCol="0" anchor="t"/>
          <a:lstStyle/>
          <a:p>
            <a:pPr indent="0" marL="0">
              <a:buNone/>
            </a:pPr>
            <a:r>
              <a:rPr lang="en-US" sz="1400" dirty="0">
                <a:solidFill>
                  <a:srgbClr val="3B4660"/>
                </a:solidFill>
              </a:rPr>
              <a:t>Listings downloaded</a:t>
            </a:r>
            <a:endParaRPr lang="en-US" sz="1400" dirty="0"/>
          </a:p>
        </p:txBody>
      </p:sp>
      <p:sp>
        <p:nvSpPr>
          <p:cNvPr id="9" name="Shape 6"/>
          <p:cNvSpPr/>
          <p:nvPr/>
        </p:nvSpPr>
        <p:spPr>
          <a:xfrm>
            <a:off x="548640" y="3063240"/>
            <a:ext cx="5232239" cy="1005840"/>
          </a:xfrm>
          <a:prstGeom prst="roundRect">
            <a:avLst>
              <a:gd name="adj" fmla="val 9091"/>
            </a:avLst>
          </a:prstGeom>
          <a:solidFill>
            <a:schemeClr val="accent6"/>
          </a:solidFill>
          <a:ln/>
        </p:spPr>
      </p:sp>
      <p:sp>
        <p:nvSpPr>
          <p:cNvPr id="10" name="Text 7"/>
          <p:cNvSpPr txBox="1"/>
          <p:nvPr/>
        </p:nvSpPr>
        <p:spPr>
          <a:xfrm>
            <a:off x="777240" y="3063240"/>
            <a:ext cx="2194560" cy="1005840"/>
          </a:xfrm>
          <a:prstGeom prst="rect">
            <a:avLst/>
          </a:prstGeom>
          <a:noFill/>
          <a:ln/>
        </p:spPr>
        <p:txBody>
          <a:bodyPr wrap="square" lIns="0" tIns="0" rIns="0" bIns="0" rtlCol="0" anchor="ctr"/>
          <a:lstStyle/>
          <a:p>
            <a:pPr indent="0" marL="0">
              <a:buNone/>
            </a:pPr>
            <a:r>
              <a:rPr lang="en-US" sz="3200" b="1" dirty="0">
                <a:solidFill>
                  <a:schemeClr val="tx1"/>
                </a:solidFill>
              </a:rPr>
              <a:t>15,725</a:t>
            </a:r>
            <a:endParaRPr lang="en-US" sz="3200" dirty="0"/>
          </a:p>
        </p:txBody>
      </p:sp>
      <p:sp>
        <p:nvSpPr>
          <p:cNvPr id="11" name="Text 8"/>
          <p:cNvSpPr txBox="1"/>
          <p:nvPr/>
        </p:nvSpPr>
        <p:spPr>
          <a:xfrm>
            <a:off x="548640" y="4069080"/>
            <a:ext cx="6400800" cy="274320"/>
          </a:xfrm>
          <a:prstGeom prst="rect">
            <a:avLst/>
          </a:prstGeom>
          <a:noFill/>
          <a:ln/>
        </p:spPr>
        <p:txBody>
          <a:bodyPr wrap="square" lIns="0" tIns="0" rIns="0" bIns="0" rtlCol="0" anchor="t"/>
          <a:lstStyle/>
          <a:p>
            <a:pPr indent="0" marL="0">
              <a:buNone/>
            </a:pPr>
            <a:r>
              <a:rPr lang="en-US" sz="1400" dirty="0">
                <a:solidFill>
                  <a:srgbClr val="3B4660"/>
                </a:solidFill>
              </a:rPr>
              <a:t>After removing repeated listings</a:t>
            </a:r>
            <a:endParaRPr lang="en-US" sz="1400" dirty="0"/>
          </a:p>
        </p:txBody>
      </p:sp>
      <p:sp>
        <p:nvSpPr>
          <p:cNvPr id="12" name="Shape 9"/>
          <p:cNvSpPr/>
          <p:nvPr/>
        </p:nvSpPr>
        <p:spPr>
          <a:xfrm>
            <a:off x="548640" y="4389120"/>
            <a:ext cx="4661933" cy="1005840"/>
          </a:xfrm>
          <a:prstGeom prst="roundRect">
            <a:avLst>
              <a:gd name="adj" fmla="val 9091"/>
            </a:avLst>
          </a:prstGeom>
          <a:solidFill>
            <a:schemeClr val="accent2"/>
          </a:solidFill>
          <a:ln/>
        </p:spPr>
      </p:sp>
      <p:sp>
        <p:nvSpPr>
          <p:cNvPr id="13" name="Text 10"/>
          <p:cNvSpPr txBox="1"/>
          <p:nvPr/>
        </p:nvSpPr>
        <p:spPr>
          <a:xfrm>
            <a:off x="777240" y="4389120"/>
            <a:ext cx="2194560" cy="1005840"/>
          </a:xfrm>
          <a:prstGeom prst="rect">
            <a:avLst/>
          </a:prstGeom>
          <a:noFill/>
          <a:ln/>
        </p:spPr>
        <p:txBody>
          <a:bodyPr wrap="square" lIns="0" tIns="0" rIns="0" bIns="0" rtlCol="0" anchor="ctr"/>
          <a:lstStyle/>
          <a:p>
            <a:pPr indent="0" marL="0">
              <a:buNone/>
            </a:pPr>
            <a:r>
              <a:rPr lang="en-US" sz="3200" b="1" dirty="0">
                <a:solidFill>
                  <a:schemeClr val="tx1"/>
                </a:solidFill>
              </a:rPr>
              <a:t>14,011</a:t>
            </a:r>
            <a:endParaRPr lang="en-US" sz="3200" dirty="0"/>
          </a:p>
        </p:txBody>
      </p:sp>
      <p:sp>
        <p:nvSpPr>
          <p:cNvPr id="14" name="Text 11"/>
          <p:cNvSpPr txBox="1"/>
          <p:nvPr/>
        </p:nvSpPr>
        <p:spPr>
          <a:xfrm>
            <a:off x="548640" y="5394960"/>
            <a:ext cx="6400800" cy="274320"/>
          </a:xfrm>
          <a:prstGeom prst="rect">
            <a:avLst/>
          </a:prstGeom>
          <a:noFill/>
          <a:ln/>
        </p:spPr>
        <p:txBody>
          <a:bodyPr wrap="square" lIns="0" tIns="0" rIns="0" bIns="0" rtlCol="0" anchor="t"/>
          <a:lstStyle/>
          <a:p>
            <a:pPr indent="0" marL="0">
              <a:buNone/>
            </a:pPr>
            <a:r>
              <a:rPr lang="en-US" sz="1400" dirty="0">
                <a:solidFill>
                  <a:srgbClr val="3B4660"/>
                </a:solidFill>
              </a:rPr>
              <a:t>After removing unrealistic values</a:t>
            </a:r>
            <a:endParaRPr lang="en-US" sz="1400" dirty="0"/>
          </a:p>
        </p:txBody>
      </p:sp>
      <p:sp>
        <p:nvSpPr>
          <p:cNvPr id="15" name="Shape 12"/>
          <p:cNvSpPr/>
          <p:nvPr/>
        </p:nvSpPr>
        <p:spPr>
          <a:xfrm>
            <a:off x="7406640" y="1691640"/>
            <a:ext cx="4251960" cy="4343400"/>
          </a:xfrm>
          <a:prstGeom prst="roundRect">
            <a:avLst>
              <a:gd name="adj" fmla="val 2581"/>
            </a:avLst>
          </a:prstGeom>
          <a:solidFill>
            <a:srgbClr val="FFF1CF"/>
          </a:solidFill>
          <a:ln/>
          <a:effectLst>
            <a:outerShdw sx="100000" sy="100000" kx="0" ky="0" algn="bl" rotWithShape="0" blurRad="127000" dist="38100" dir="5400000">
              <a:srgbClr val="0B1220">
                <a:alpha val="14000"/>
              </a:srgbClr>
            </a:outerShdw>
          </a:effectLst>
        </p:spPr>
      </p:sp>
      <p:sp>
        <p:nvSpPr>
          <p:cNvPr id="16" name="Text 13"/>
          <p:cNvSpPr txBox="1"/>
          <p:nvPr/>
        </p:nvSpPr>
        <p:spPr>
          <a:xfrm>
            <a:off x="7680960" y="1874520"/>
            <a:ext cx="3749040" cy="457200"/>
          </a:xfrm>
          <a:prstGeom prst="rect">
            <a:avLst/>
          </a:prstGeom>
          <a:noFill/>
          <a:ln/>
        </p:spPr>
        <p:txBody>
          <a:bodyPr wrap="square" lIns="0" tIns="0" rIns="0" bIns="0" rtlCol="0" anchor="ctr"/>
          <a:lstStyle/>
          <a:p>
            <a:pPr indent="0" marL="0">
              <a:buNone/>
            </a:pPr>
            <a:r>
              <a:rPr lang="en-US" sz="2000" b="1" dirty="0">
                <a:solidFill>
                  <a:schemeClr val="tx1"/>
                </a:solidFill>
              </a:rPr>
              <a:t>What we removed, and why</a:t>
            </a:r>
            <a:endParaRPr lang="en-US" sz="2000" dirty="0"/>
          </a:p>
        </p:txBody>
      </p:sp>
      <p:sp>
        <p:nvSpPr>
          <p:cNvPr id="17" name="Text 14"/>
          <p:cNvSpPr txBox="1"/>
          <p:nvPr/>
        </p:nvSpPr>
        <p:spPr>
          <a:xfrm>
            <a:off x="7680960" y="2468880"/>
            <a:ext cx="374904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The same car advertised more than once</a:t>
            </a:r>
            <a:endParaRPr lang="en-US" sz="1600" dirty="0"/>
          </a:p>
          <a:p>
            <a:pPr marL="342900" indent="-342900">
              <a:spcAft>
                <a:spcPts val="1000"/>
              </a:spcAft>
              <a:buSzPct val="100000"/>
              <a:buChar char="•"/>
            </a:pPr>
            <a:r>
              <a:rPr lang="en-US" sz="1600" dirty="0">
                <a:solidFill>
                  <a:schemeClr val="tx1"/>
                </a:solidFill>
              </a:rPr>
              <a:t>Impossible prices, such as $1 or $26 million</a:t>
            </a:r>
            <a:endParaRPr lang="en-US" sz="1600" dirty="0"/>
          </a:p>
          <a:p>
            <a:pPr marL="342900" indent="-342900">
              <a:spcAft>
                <a:spcPts val="1000"/>
              </a:spcAft>
              <a:buSzPct val="100000"/>
              <a:buChar char="•"/>
            </a:pPr>
            <a:r>
              <a:rPr lang="en-US" sz="1600" dirty="0">
                <a:solidFill>
                  <a:schemeClr val="tx1"/>
                </a:solidFill>
              </a:rPr>
              <a:t>Odometer readings that cannot be real</a:t>
            </a:r>
            <a:endParaRPr lang="en-US" sz="1600" dirty="0"/>
          </a:p>
          <a:p>
            <a:pPr marL="342900" indent="-342900">
              <a:spcAft>
                <a:spcPts val="1000"/>
              </a:spcAft>
              <a:buSzPct val="100000"/>
              <a:buChar char="•"/>
            </a:pPr>
            <a:r>
              <a:rPr lang="en-US" sz="1600" dirty="0">
                <a:solidFill>
                  <a:schemeClr val="tx1"/>
                </a:solidFill>
              </a:rPr>
              <a:t>Engine sizes and years outside normal cars</a:t>
            </a:r>
            <a:endParaRPr lang="en-US" sz="1600" dirty="0"/>
          </a:p>
        </p:txBody>
      </p:sp>
      <p:sp>
        <p:nvSpPr>
          <p:cNvPr id="18" name="Text 15"/>
          <p:cNvSpPr txBox="1"/>
          <p:nvPr/>
        </p:nvSpPr>
        <p:spPr>
          <a:xfrm>
            <a:off x="7680960" y="5212080"/>
            <a:ext cx="3749040" cy="640080"/>
          </a:xfrm>
          <a:prstGeom prst="rect">
            <a:avLst/>
          </a:prstGeom>
          <a:noFill/>
          <a:ln/>
        </p:spPr>
        <p:txBody>
          <a:bodyPr wrap="square" lIns="0" tIns="0" rIns="0" bIns="0" rtlCol="0" anchor="t"/>
          <a:lstStyle/>
          <a:p>
            <a:pPr indent="0" marL="0">
              <a:buNone/>
            </a:pPr>
            <a:r>
              <a:rPr lang="en-US" sz="1200" dirty="0">
                <a:solidFill>
                  <a:srgbClr val="5D687E"/>
                </a:solidFill>
              </a:rPr>
              <a:t>Source: a public Kaggle dataset of used-car listings from Georgia</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Age comes first, then equipment and engine</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2"/>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062B28"/>
                </a:solidFill>
              </a:rPr>
              <a:t>Presenting: Wijerathna</a:t>
            </a:r>
            <a:endParaRPr lang="en-US" sz="1300" dirty="0"/>
          </a:p>
        </p:txBody>
      </p:sp>
      <p:graphicFrame>
        <p:nvGraphicFramePr>
          <p:cNvPr id="6" name="Chart 0" descr=""/>
          <p:cNvGraphicFramePr/>
          <p:nvPr/>
        </p:nvGraphicFramePr>
        <p:xfrm>
          <a:off x="548640" y="1600200"/>
          <a:ext cx="7315200" cy="46634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8229600" y="1691640"/>
            <a:ext cx="3429000" cy="2103120"/>
          </a:xfrm>
          <a:prstGeom prst="roundRect">
            <a:avLst>
              <a:gd name="adj" fmla="val 5217"/>
            </a:avLst>
          </a:prstGeom>
          <a:solidFill>
            <a:srgbClr val="E6EDFF"/>
          </a:solidFill>
          <a:ln/>
          <a:effectLst>
            <a:outerShdw sx="100000" sy="100000" kx="0" ky="0" algn="bl" rotWithShape="0" blurRad="127000" dist="38100" dir="5400000">
              <a:srgbClr val="0B1220">
                <a:alpha val="14000"/>
              </a:srgbClr>
            </a:outerShdw>
          </a:effectLst>
        </p:spPr>
      </p:sp>
      <p:sp>
        <p:nvSpPr>
          <p:cNvPr id="8" name="Text 4"/>
          <p:cNvSpPr txBox="1"/>
          <p:nvPr/>
        </p:nvSpPr>
        <p:spPr>
          <a:xfrm>
            <a:off x="8458200" y="1828800"/>
            <a:ext cx="3017520" cy="1005840"/>
          </a:xfrm>
          <a:prstGeom prst="rect">
            <a:avLst/>
          </a:prstGeom>
          <a:noFill/>
          <a:ln/>
        </p:spPr>
        <p:txBody>
          <a:bodyPr wrap="square" lIns="0" tIns="0" rIns="0" bIns="0" rtlCol="0" anchor="ctr"/>
          <a:lstStyle/>
          <a:p>
            <a:pPr indent="0" marL="0">
              <a:buNone/>
            </a:pPr>
            <a:r>
              <a:rPr lang="en-US" sz="6000" b="1" dirty="0">
                <a:solidFill>
                  <a:schemeClr val="accent1"/>
                </a:solidFill>
              </a:rPr>
              <a:t>42%</a:t>
            </a:r>
            <a:endParaRPr lang="en-US" sz="6000" dirty="0"/>
          </a:p>
        </p:txBody>
      </p:sp>
      <p:sp>
        <p:nvSpPr>
          <p:cNvPr id="9" name="Text 5"/>
          <p:cNvSpPr txBox="1"/>
          <p:nvPr/>
        </p:nvSpPr>
        <p:spPr>
          <a:xfrm>
            <a:off x="8458200" y="2834640"/>
            <a:ext cx="3017520" cy="868680"/>
          </a:xfrm>
          <a:prstGeom prst="rect">
            <a:avLst/>
          </a:prstGeom>
          <a:noFill/>
          <a:ln/>
        </p:spPr>
        <p:txBody>
          <a:bodyPr wrap="square" lIns="0" tIns="0" rIns="0" bIns="0" rtlCol="0" anchor="t"/>
          <a:lstStyle/>
          <a:p>
            <a:pPr indent="0" marL="0">
              <a:buNone/>
            </a:pPr>
            <a:r>
              <a:rPr lang="en-US" sz="1500" dirty="0">
                <a:solidFill>
                  <a:schemeClr val="tx1"/>
                </a:solidFill>
              </a:rPr>
              <a:t>of the model's accuracy comes from knowing the car's age</a:t>
            </a:r>
            <a:endParaRPr lang="en-US" sz="1500" dirty="0"/>
          </a:p>
        </p:txBody>
      </p:sp>
      <p:sp>
        <p:nvSpPr>
          <p:cNvPr id="10" name="Shape 6"/>
          <p:cNvSpPr/>
          <p:nvPr/>
        </p:nvSpPr>
        <p:spPr>
          <a:xfrm>
            <a:off x="8229600" y="4023360"/>
            <a:ext cx="3429000" cy="2011680"/>
          </a:xfrm>
          <a:prstGeom prst="roundRect">
            <a:avLst>
              <a:gd name="adj" fmla="val 5455"/>
            </a:avLst>
          </a:prstGeom>
          <a:solidFill>
            <a:srgbClr val="FFF1CF"/>
          </a:solidFill>
          <a:ln/>
          <a:effectLst>
            <a:outerShdw sx="100000" sy="100000" kx="0" ky="0" algn="bl" rotWithShape="0" blurRad="127000" dist="38100" dir="5400000">
              <a:srgbClr val="0B1220">
                <a:alpha val="14000"/>
              </a:srgbClr>
            </a:outerShdw>
          </a:effectLst>
        </p:spPr>
      </p:sp>
      <p:sp>
        <p:nvSpPr>
          <p:cNvPr id="11" name="Text 7"/>
          <p:cNvSpPr txBox="1"/>
          <p:nvPr/>
        </p:nvSpPr>
        <p:spPr>
          <a:xfrm>
            <a:off x="8458200" y="4160520"/>
            <a:ext cx="3017520" cy="365760"/>
          </a:xfrm>
          <a:prstGeom prst="rect">
            <a:avLst/>
          </a:prstGeom>
          <a:noFill/>
          <a:ln/>
        </p:spPr>
        <p:txBody>
          <a:bodyPr wrap="square" lIns="0" tIns="0" rIns="0" bIns="0" rtlCol="0" anchor="ctr"/>
          <a:lstStyle/>
          <a:p>
            <a:pPr indent="0" marL="0">
              <a:buNone/>
            </a:pPr>
            <a:r>
              <a:rPr lang="en-US" sz="1600" b="1" dirty="0">
                <a:solidFill>
                  <a:schemeClr val="tx1"/>
                </a:solidFill>
              </a:rPr>
              <a:t>How we measured it</a:t>
            </a:r>
            <a:endParaRPr lang="en-US" sz="1600" dirty="0"/>
          </a:p>
        </p:txBody>
      </p:sp>
      <p:sp>
        <p:nvSpPr>
          <p:cNvPr id="12" name="Text 8"/>
          <p:cNvSpPr txBox="1"/>
          <p:nvPr/>
        </p:nvSpPr>
        <p:spPr>
          <a:xfrm>
            <a:off x="8458200" y="4572000"/>
            <a:ext cx="3017520" cy="1371600"/>
          </a:xfrm>
          <a:prstGeom prst="rect">
            <a:avLst/>
          </a:prstGeom>
          <a:noFill/>
          <a:ln/>
        </p:spPr>
        <p:txBody>
          <a:bodyPr wrap="square" lIns="0" tIns="0" rIns="0" bIns="0" rtlCol="0" anchor="t"/>
          <a:lstStyle/>
          <a:p>
            <a:pPr indent="0" marL="0">
              <a:buNone/>
            </a:pPr>
            <a:r>
              <a:rPr lang="en-US" sz="1400" dirty="0">
                <a:solidFill>
                  <a:srgbClr val="3B4660"/>
                </a:solidFill>
              </a:rPr>
              <a:t>We scrambled one factor at a time and checked how much worse the estimates became.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The patterns we found in the data</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2"/>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062B28"/>
                </a:solidFill>
              </a:rPr>
              <a:t>Presenting: Wijerathna</a:t>
            </a:r>
            <a:endParaRPr lang="en-US" sz="1300" dirty="0"/>
          </a:p>
        </p:txBody>
      </p:sp>
      <p:graphicFrame>
        <p:nvGraphicFramePr>
          <p:cNvPr id="6" name="Chart 0" descr=""/>
          <p:cNvGraphicFramePr/>
          <p:nvPr/>
        </p:nvGraphicFramePr>
        <p:xfrm>
          <a:off x="548640" y="1600200"/>
          <a:ext cx="6766560" cy="44805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7680960" y="1691640"/>
            <a:ext cx="3977640" cy="1325880"/>
          </a:xfrm>
          <a:prstGeom prst="roundRect">
            <a:avLst>
              <a:gd name="adj" fmla="val 8276"/>
            </a:avLst>
          </a:prstGeom>
          <a:solidFill>
            <a:srgbClr val="E6EDFF"/>
          </a:solidFill>
          <a:ln/>
          <a:effectLst>
            <a:outerShdw sx="100000" sy="100000" kx="0" ky="0" algn="bl" rotWithShape="0" blurRad="127000" dist="38100" dir="5400000">
              <a:srgbClr val="0B1220">
                <a:alpha val="14000"/>
              </a:srgbClr>
            </a:outerShdw>
          </a:effectLst>
        </p:spPr>
      </p:sp>
      <p:sp>
        <p:nvSpPr>
          <p:cNvPr id="8" name="Text 4"/>
          <p:cNvSpPr txBox="1"/>
          <p:nvPr/>
        </p:nvSpPr>
        <p:spPr>
          <a:xfrm>
            <a:off x="7909560" y="1828800"/>
            <a:ext cx="3566160" cy="594360"/>
          </a:xfrm>
          <a:prstGeom prst="rect">
            <a:avLst/>
          </a:prstGeom>
          <a:noFill/>
          <a:ln/>
        </p:spPr>
        <p:txBody>
          <a:bodyPr wrap="square" lIns="0" tIns="0" rIns="0" bIns="0" rtlCol="0" anchor="ctr"/>
          <a:lstStyle/>
          <a:p>
            <a:pPr indent="0" marL="0">
              <a:buNone/>
            </a:pPr>
            <a:r>
              <a:rPr lang="en-US" sz="2800" b="1" dirty="0">
                <a:solidFill>
                  <a:schemeClr val="accent1"/>
                </a:solidFill>
              </a:rPr>
              <a:t>$23,521 vs $14,740</a:t>
            </a:r>
            <a:endParaRPr lang="en-US" sz="2800" dirty="0"/>
          </a:p>
        </p:txBody>
      </p:sp>
      <p:sp>
        <p:nvSpPr>
          <p:cNvPr id="9" name="Text 5"/>
          <p:cNvSpPr txBox="1"/>
          <p:nvPr/>
        </p:nvSpPr>
        <p:spPr>
          <a:xfrm>
            <a:off x="7909560" y="2441448"/>
            <a:ext cx="3566160" cy="457200"/>
          </a:xfrm>
          <a:prstGeom prst="rect">
            <a:avLst/>
          </a:prstGeom>
          <a:noFill/>
          <a:ln/>
        </p:spPr>
        <p:txBody>
          <a:bodyPr wrap="square" lIns="0" tIns="0" rIns="0" bIns="0" rtlCol="0" anchor="t"/>
          <a:lstStyle/>
          <a:p>
            <a:pPr indent="0" marL="0">
              <a:buNone/>
            </a:pPr>
            <a:r>
              <a:rPr lang="en-US" sz="1400" dirty="0">
                <a:solidFill>
                  <a:srgbClr val="3B4660"/>
                </a:solidFill>
              </a:rPr>
              <a:t>SUV / Jeep against sedan, median price</a:t>
            </a:r>
            <a:endParaRPr lang="en-US" sz="1400" dirty="0"/>
          </a:p>
        </p:txBody>
      </p:sp>
      <p:sp>
        <p:nvSpPr>
          <p:cNvPr id="10" name="Shape 6"/>
          <p:cNvSpPr/>
          <p:nvPr/>
        </p:nvSpPr>
        <p:spPr>
          <a:xfrm>
            <a:off x="7680960" y="3172968"/>
            <a:ext cx="3977640" cy="1325880"/>
          </a:xfrm>
          <a:prstGeom prst="roundRect">
            <a:avLst>
              <a:gd name="adj" fmla="val 8276"/>
            </a:avLst>
          </a:prstGeom>
          <a:solidFill>
            <a:srgbClr val="D9F5F0"/>
          </a:solidFill>
          <a:ln/>
          <a:effectLst>
            <a:outerShdw sx="100000" sy="100000" kx="0" ky="0" algn="bl" rotWithShape="0" blurRad="127000" dist="38100" dir="5400000">
              <a:srgbClr val="0B1220">
                <a:alpha val="14000"/>
              </a:srgbClr>
            </a:outerShdw>
          </a:effectLst>
        </p:spPr>
      </p:sp>
      <p:sp>
        <p:nvSpPr>
          <p:cNvPr id="11" name="Text 7"/>
          <p:cNvSpPr txBox="1"/>
          <p:nvPr/>
        </p:nvSpPr>
        <p:spPr>
          <a:xfrm>
            <a:off x="7909560" y="3310128"/>
            <a:ext cx="3566160" cy="594360"/>
          </a:xfrm>
          <a:prstGeom prst="rect">
            <a:avLst/>
          </a:prstGeom>
          <a:noFill/>
          <a:ln/>
        </p:spPr>
        <p:txBody>
          <a:bodyPr wrap="square" lIns="0" tIns="0" rIns="0" bIns="0" rtlCol="0" anchor="ctr"/>
          <a:lstStyle/>
          <a:p>
            <a:pPr indent="0" marL="0">
              <a:buNone/>
            </a:pPr>
            <a:r>
              <a:rPr lang="en-US" sz="2800" b="1" dirty="0">
                <a:solidFill>
                  <a:srgbClr val="0B8A7F"/>
                </a:solidFill>
              </a:rPr>
              <a:t>46% cheaper</a:t>
            </a:r>
            <a:endParaRPr lang="en-US" sz="2800" dirty="0"/>
          </a:p>
        </p:txBody>
      </p:sp>
      <p:sp>
        <p:nvSpPr>
          <p:cNvPr id="12" name="Text 8"/>
          <p:cNvSpPr txBox="1"/>
          <p:nvPr/>
        </p:nvSpPr>
        <p:spPr>
          <a:xfrm>
            <a:off x="7909560" y="3922776"/>
            <a:ext cx="3566160" cy="457200"/>
          </a:xfrm>
          <a:prstGeom prst="rect">
            <a:avLst/>
          </a:prstGeom>
          <a:noFill/>
          <a:ln/>
        </p:spPr>
        <p:txBody>
          <a:bodyPr wrap="square" lIns="0" tIns="0" rIns="0" bIns="0" rtlCol="0" anchor="t"/>
          <a:lstStyle/>
          <a:p>
            <a:pPr indent="0" marL="0">
              <a:buNone/>
            </a:pPr>
            <a:r>
              <a:rPr lang="en-US" sz="1400" dirty="0">
                <a:solidFill>
                  <a:srgbClr val="3B4660"/>
                </a:solidFill>
              </a:rPr>
              <a:t>right-hand-drive against left-hand-drive cars</a:t>
            </a:r>
            <a:endParaRPr lang="en-US" sz="1400" dirty="0"/>
          </a:p>
        </p:txBody>
      </p:sp>
      <p:sp>
        <p:nvSpPr>
          <p:cNvPr id="13" name="Shape 9"/>
          <p:cNvSpPr/>
          <p:nvPr/>
        </p:nvSpPr>
        <p:spPr>
          <a:xfrm>
            <a:off x="7680960" y="4654296"/>
            <a:ext cx="3977640" cy="1325880"/>
          </a:xfrm>
          <a:prstGeom prst="roundRect">
            <a:avLst>
              <a:gd name="adj" fmla="val 8276"/>
            </a:avLst>
          </a:prstGeom>
          <a:solidFill>
            <a:srgbClr val="FFE3DD"/>
          </a:solidFill>
          <a:ln/>
          <a:effectLst>
            <a:outerShdw sx="100000" sy="100000" kx="0" ky="0" algn="bl" rotWithShape="0" blurRad="127000" dist="38100" dir="5400000">
              <a:srgbClr val="0B1220">
                <a:alpha val="14000"/>
              </a:srgbClr>
            </a:outerShdw>
          </a:effectLst>
        </p:spPr>
      </p:sp>
      <p:sp>
        <p:nvSpPr>
          <p:cNvPr id="14" name="Text 10"/>
          <p:cNvSpPr txBox="1"/>
          <p:nvPr/>
        </p:nvSpPr>
        <p:spPr>
          <a:xfrm>
            <a:off x="7909560" y="4791456"/>
            <a:ext cx="3566160" cy="594360"/>
          </a:xfrm>
          <a:prstGeom prst="rect">
            <a:avLst/>
          </a:prstGeom>
          <a:noFill/>
          <a:ln/>
        </p:spPr>
        <p:txBody>
          <a:bodyPr wrap="square" lIns="0" tIns="0" rIns="0" bIns="0" rtlCol="0" anchor="ctr"/>
          <a:lstStyle/>
          <a:p>
            <a:pPr indent="0" marL="0">
              <a:buNone/>
            </a:pPr>
            <a:r>
              <a:rPr lang="en-US" sz="2800" b="1" dirty="0">
                <a:solidFill>
                  <a:srgbClr val="D9442F"/>
                </a:solidFill>
              </a:rPr>
              <a:t>$23,060 vs $14,834</a:t>
            </a:r>
            <a:endParaRPr lang="en-US" sz="2800" dirty="0"/>
          </a:p>
        </p:txBody>
      </p:sp>
      <p:sp>
        <p:nvSpPr>
          <p:cNvPr id="15" name="Text 11"/>
          <p:cNvSpPr txBox="1"/>
          <p:nvPr/>
        </p:nvSpPr>
        <p:spPr>
          <a:xfrm>
            <a:off x="7909560" y="5404104"/>
            <a:ext cx="3566160" cy="457200"/>
          </a:xfrm>
          <a:prstGeom prst="rect">
            <a:avLst/>
          </a:prstGeom>
          <a:noFill/>
          <a:ln/>
        </p:spPr>
        <p:txBody>
          <a:bodyPr wrap="square" lIns="0" tIns="0" rIns="0" bIns="0" rtlCol="0" anchor="t"/>
          <a:lstStyle/>
          <a:p>
            <a:pPr indent="0" marL="0">
              <a:buNone/>
            </a:pPr>
            <a:r>
              <a:rPr lang="en-US" sz="1400" dirty="0">
                <a:solidFill>
                  <a:srgbClr val="3B4660"/>
                </a:solidFill>
              </a:rPr>
              <a:t>diesel against petrol, median price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Same brand, very different cars</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2"/>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062B28"/>
                </a:solidFill>
              </a:rPr>
              <a:t>Presenting: Wijerathna</a:t>
            </a:r>
            <a:endParaRPr lang="en-US" sz="1300" dirty="0"/>
          </a:p>
        </p:txBody>
      </p:sp>
      <p:sp>
        <p:nvSpPr>
          <p:cNvPr id="6" name="Shape 3"/>
          <p:cNvSpPr/>
          <p:nvPr/>
        </p:nvSpPr>
        <p:spPr>
          <a:xfrm>
            <a:off x="658368" y="1664208"/>
            <a:ext cx="5349240" cy="3015026"/>
          </a:xfrm>
          <a:prstGeom prst="roundRect">
            <a:avLst>
              <a:gd name="adj" fmla="val 9098"/>
            </a:avLst>
          </a:prstGeom>
          <a:solidFill>
            <a:schemeClr val="accent4"/>
          </a:solidFill>
          <a:ln/>
        </p:spPr>
      </p:sp>
      <p:pic>
        <p:nvPicPr>
          <p:cNvPr id="7" name="Image 0" descr="Photo of a red Toyota GR Yaris in a showroom">    </p:cNvPr>
          <p:cNvPicPr>
            <a:picLocks noChangeAspect="1"/>
          </p:cNvPicPr>
          <p:nvPr/>
        </p:nvPicPr>
        <p:blipFill>
          <a:blip r:embed="rId2"/>
          <a:stretch>
            <a:fillRect/>
          </a:stretch>
        </p:blipFill>
        <p:spPr>
          <a:xfrm>
            <a:off x="548640" y="1554480"/>
            <a:ext cx="5349240" cy="3015026"/>
          </a:xfrm>
          <a:prstGeom prst="rect">
            <a:avLst/>
          </a:prstGeom>
        </p:spPr>
      </p:pic>
      <p:sp>
        <p:nvSpPr>
          <p:cNvPr id="8" name="Shape 4"/>
          <p:cNvSpPr/>
          <p:nvPr/>
        </p:nvSpPr>
        <p:spPr>
          <a:xfrm>
            <a:off x="6327648" y="1664208"/>
            <a:ext cx="5349240" cy="3015026"/>
          </a:xfrm>
          <a:prstGeom prst="roundRect">
            <a:avLst>
              <a:gd name="adj" fmla="val 9098"/>
            </a:avLst>
          </a:prstGeom>
          <a:solidFill>
            <a:schemeClr val="accent3"/>
          </a:solidFill>
          <a:ln/>
        </p:spPr>
      </p:sp>
      <p:pic>
        <p:nvPicPr>
          <p:cNvPr id="9" name="Image 1" descr="Photo of a white, modified Toyota Starlet Glanza on grass">    </p:cNvPr>
          <p:cNvPicPr>
            <a:picLocks noChangeAspect="1"/>
          </p:cNvPicPr>
          <p:nvPr/>
        </p:nvPicPr>
        <p:blipFill>
          <a:blip r:embed="rId3"/>
          <a:stretch>
            <a:fillRect/>
          </a:stretch>
        </p:blipFill>
        <p:spPr>
          <a:xfrm>
            <a:off x="6217920" y="1554480"/>
            <a:ext cx="5349240" cy="3015026"/>
          </a:xfrm>
          <a:prstGeom prst="rect">
            <a:avLst/>
          </a:prstGeom>
        </p:spPr>
      </p:pic>
      <p:sp>
        <p:nvSpPr>
          <p:cNvPr id="10" name="Shape 5"/>
          <p:cNvSpPr/>
          <p:nvPr/>
        </p:nvSpPr>
        <p:spPr>
          <a:xfrm>
            <a:off x="731520" y="1737360"/>
            <a:ext cx="2103120" cy="365760"/>
          </a:xfrm>
          <a:prstGeom prst="roundRect">
            <a:avLst>
              <a:gd name="adj" fmla="val 50000"/>
            </a:avLst>
          </a:prstGeom>
          <a:solidFill>
            <a:schemeClr val="accent4"/>
          </a:solidFill>
          <a:ln/>
        </p:spPr>
      </p:sp>
      <p:sp>
        <p:nvSpPr>
          <p:cNvPr id="11" name="Text 6"/>
          <p:cNvSpPr txBox="1"/>
          <p:nvPr/>
        </p:nvSpPr>
        <p:spPr>
          <a:xfrm>
            <a:off x="731520" y="1737360"/>
            <a:ext cx="2103120" cy="365760"/>
          </a:xfrm>
          <a:prstGeom prst="rect">
            <a:avLst/>
          </a:prstGeom>
          <a:noFill/>
          <a:ln/>
        </p:spPr>
        <p:txBody>
          <a:bodyPr wrap="square" lIns="0" tIns="0" rIns="0" bIns="0" rtlCol="0" anchor="ctr"/>
          <a:lstStyle/>
          <a:p>
            <a:pPr algn="ctr" indent="0" marL="0">
              <a:buNone/>
            </a:pPr>
            <a:r>
              <a:rPr lang="en-US" sz="1200" b="1" dirty="0">
                <a:solidFill>
                  <a:srgbClr val="2A0A05"/>
                </a:solidFill>
              </a:rPr>
              <a:t>Toyota GR Yaris</a:t>
            </a:r>
            <a:endParaRPr lang="en-US" sz="1200" dirty="0"/>
          </a:p>
        </p:txBody>
      </p:sp>
      <p:sp>
        <p:nvSpPr>
          <p:cNvPr id="12" name="Text 7"/>
          <p:cNvSpPr txBox="1"/>
          <p:nvPr/>
        </p:nvSpPr>
        <p:spPr>
          <a:xfrm>
            <a:off x="548640" y="4892040"/>
            <a:ext cx="5440680" cy="365760"/>
          </a:xfrm>
          <a:prstGeom prst="rect">
            <a:avLst/>
          </a:prstGeom>
          <a:noFill/>
          <a:ln/>
        </p:spPr>
        <p:txBody>
          <a:bodyPr wrap="square" lIns="0" tIns="0" rIns="0" bIns="0" rtlCol="0" anchor="ctr"/>
          <a:lstStyle/>
          <a:p>
            <a:pPr indent="0" marL="0">
              <a:buNone/>
            </a:pPr>
            <a:r>
              <a:rPr lang="en-US" sz="1600" b="1" dirty="0">
                <a:solidFill>
                  <a:schemeClr val="tx1"/>
                </a:solidFill>
              </a:rPr>
              <a:t>A modern, sporty hatchback</a:t>
            </a:r>
            <a:endParaRPr lang="en-US" sz="1600" dirty="0"/>
          </a:p>
        </p:txBody>
      </p:sp>
      <p:sp>
        <p:nvSpPr>
          <p:cNvPr id="13" name="Shape 8"/>
          <p:cNvSpPr/>
          <p:nvPr/>
        </p:nvSpPr>
        <p:spPr>
          <a:xfrm>
            <a:off x="6400800" y="1737360"/>
            <a:ext cx="2103120" cy="365760"/>
          </a:xfrm>
          <a:prstGeom prst="roundRect">
            <a:avLst>
              <a:gd name="adj" fmla="val 50000"/>
            </a:avLst>
          </a:prstGeom>
          <a:solidFill>
            <a:schemeClr val="accent3"/>
          </a:solidFill>
          <a:ln/>
        </p:spPr>
      </p:sp>
      <p:sp>
        <p:nvSpPr>
          <p:cNvPr id="14" name="Text 9"/>
          <p:cNvSpPr txBox="1"/>
          <p:nvPr/>
        </p:nvSpPr>
        <p:spPr>
          <a:xfrm>
            <a:off x="6400800" y="1737360"/>
            <a:ext cx="2103120" cy="365760"/>
          </a:xfrm>
          <a:prstGeom prst="rect">
            <a:avLst/>
          </a:prstGeom>
          <a:noFill/>
          <a:ln/>
        </p:spPr>
        <p:txBody>
          <a:bodyPr wrap="square" lIns="0" tIns="0" rIns="0" bIns="0" rtlCol="0" anchor="ctr"/>
          <a:lstStyle/>
          <a:p>
            <a:pPr algn="ctr" indent="0" marL="0">
              <a:buNone/>
            </a:pPr>
            <a:r>
              <a:rPr lang="en-US" sz="1200" b="1" dirty="0">
                <a:solidFill>
                  <a:srgbClr val="2A1700"/>
                </a:solidFill>
              </a:rPr>
              <a:t>Toyota Starlet Glanza</a:t>
            </a:r>
            <a:endParaRPr lang="en-US" sz="1200" dirty="0"/>
          </a:p>
        </p:txBody>
      </p:sp>
      <p:sp>
        <p:nvSpPr>
          <p:cNvPr id="15" name="Text 10"/>
          <p:cNvSpPr txBox="1"/>
          <p:nvPr/>
        </p:nvSpPr>
        <p:spPr>
          <a:xfrm>
            <a:off x="6217920" y="4892040"/>
            <a:ext cx="5440680" cy="365760"/>
          </a:xfrm>
          <a:prstGeom prst="rect">
            <a:avLst/>
          </a:prstGeom>
          <a:noFill/>
          <a:ln/>
        </p:spPr>
        <p:txBody>
          <a:bodyPr wrap="square" lIns="0" tIns="0" rIns="0" bIns="0" rtlCol="0" anchor="ctr"/>
          <a:lstStyle/>
          <a:p>
            <a:pPr indent="0" marL="0">
              <a:buNone/>
            </a:pPr>
            <a:r>
              <a:rPr lang="en-US" sz="1600" b="1" dirty="0">
                <a:solidFill>
                  <a:schemeClr val="tx1"/>
                </a:solidFill>
              </a:rPr>
              <a:t>A 1990s turbo hatchback, modified by its owner</a:t>
            </a:r>
            <a:endParaRPr lang="en-US" sz="1600" dirty="0"/>
          </a:p>
        </p:txBody>
      </p:sp>
      <p:sp>
        <p:nvSpPr>
          <p:cNvPr id="16" name="Shape 11"/>
          <p:cNvSpPr/>
          <p:nvPr/>
        </p:nvSpPr>
        <p:spPr>
          <a:xfrm>
            <a:off x="548640" y="5349240"/>
            <a:ext cx="5440680" cy="914400"/>
          </a:xfrm>
          <a:prstGeom prst="roundRect">
            <a:avLst>
              <a:gd name="adj" fmla="val 12000"/>
            </a:avLst>
          </a:prstGeom>
          <a:solidFill>
            <a:srgbClr val="D9F5F0"/>
          </a:solidFill>
          <a:ln/>
          <a:effectLst>
            <a:outerShdw sx="100000" sy="100000" kx="0" ky="0" algn="bl" rotWithShape="0" blurRad="127000" dist="38100" dir="5400000">
              <a:srgbClr val="0B1220">
                <a:alpha val="14000"/>
              </a:srgbClr>
            </a:outerShdw>
          </a:effectLst>
        </p:spPr>
      </p:sp>
      <p:sp>
        <p:nvSpPr>
          <p:cNvPr id="17" name="Text 12"/>
          <p:cNvSpPr txBox="1"/>
          <p:nvPr/>
        </p:nvSpPr>
        <p:spPr>
          <a:xfrm>
            <a:off x="777240" y="5349240"/>
            <a:ext cx="5029200" cy="914400"/>
          </a:xfrm>
          <a:prstGeom prst="rect">
            <a:avLst/>
          </a:prstGeom>
          <a:noFill/>
          <a:ln/>
        </p:spPr>
        <p:txBody>
          <a:bodyPr wrap="square" lIns="0" tIns="0" rIns="0" bIns="0" rtlCol="0" anchor="ctr"/>
          <a:lstStyle/>
          <a:p>
            <a:pPr indent="0" marL="0">
              <a:buNone/>
            </a:pPr>
            <a:r>
              <a:rPr lang="en-US" sz="1500" b="1" dirty="0">
                <a:solidFill>
                  <a:srgbClr val="0B8A7F"/>
                </a:solidFill>
              </a:rPr>
              <a:t>What our model sees</a:t>
            </a:r>
            <a:endParaRPr lang="en-US" sz="1500" dirty="0"/>
          </a:p>
          <a:p>
            <a:pPr indent="0" marL="0">
              <a:buNone/>
            </a:pPr>
            <a:r>
              <a:rPr lang="en-US" sz="1500" dirty="0">
                <a:solidFill>
                  <a:schemeClr val="tx1"/>
                </a:solidFill>
              </a:rPr>
              <a:t>Age, engine and turbo, equipment, body type</a:t>
            </a:r>
            <a:endParaRPr lang="en-US" sz="1500" dirty="0"/>
          </a:p>
        </p:txBody>
      </p:sp>
      <p:sp>
        <p:nvSpPr>
          <p:cNvPr id="18" name="Shape 13"/>
          <p:cNvSpPr/>
          <p:nvPr/>
        </p:nvSpPr>
        <p:spPr>
          <a:xfrm>
            <a:off x="6217920" y="5349240"/>
            <a:ext cx="5440680" cy="914400"/>
          </a:xfrm>
          <a:prstGeom prst="roundRect">
            <a:avLst>
              <a:gd name="adj" fmla="val 12000"/>
            </a:avLst>
          </a:prstGeom>
          <a:solidFill>
            <a:srgbClr val="FFE3DD"/>
          </a:solidFill>
          <a:ln/>
          <a:effectLst>
            <a:outerShdw sx="100000" sy="100000" kx="0" ky="0" algn="bl" rotWithShape="0" blurRad="127000" dist="38100" dir="5400000">
              <a:srgbClr val="0B1220">
                <a:alpha val="14000"/>
              </a:srgbClr>
            </a:outerShdw>
          </a:effectLst>
        </p:spPr>
      </p:sp>
      <p:sp>
        <p:nvSpPr>
          <p:cNvPr id="19" name="Text 14"/>
          <p:cNvSpPr txBox="1"/>
          <p:nvPr/>
        </p:nvSpPr>
        <p:spPr>
          <a:xfrm>
            <a:off x="6446520" y="5349240"/>
            <a:ext cx="5029200" cy="914400"/>
          </a:xfrm>
          <a:prstGeom prst="rect">
            <a:avLst/>
          </a:prstGeom>
          <a:noFill/>
          <a:ln/>
        </p:spPr>
        <p:txBody>
          <a:bodyPr wrap="square" lIns="0" tIns="0" rIns="0" bIns="0" rtlCol="0" anchor="ctr"/>
          <a:lstStyle/>
          <a:p>
            <a:pPr indent="0" marL="0">
              <a:buNone/>
            </a:pPr>
            <a:r>
              <a:rPr lang="en-US" sz="1500" b="1" dirty="0">
                <a:solidFill>
                  <a:srgbClr val="D9442F"/>
                </a:solidFill>
              </a:rPr>
              <a:t>What it cannot see</a:t>
            </a:r>
            <a:endParaRPr lang="en-US" sz="1500" dirty="0"/>
          </a:p>
          <a:p>
            <a:pPr indent="0" marL="0">
              <a:buNone/>
            </a:pPr>
            <a:r>
              <a:rPr lang="en-US" sz="1500" dirty="0">
                <a:solidFill>
                  <a:schemeClr val="tx1"/>
                </a:solidFill>
              </a:rPr>
              <a:t>Modifications and the car's condition</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Four ways of learning, compared fairly</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3"/>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2A1700"/>
                </a:solidFill>
              </a:rPr>
              <a:t>Presenting: Ranasinghe</a:t>
            </a:r>
            <a:endParaRPr lang="en-US" sz="1300" dirty="0"/>
          </a:p>
        </p:txBody>
      </p:sp>
      <p:sp>
        <p:nvSpPr>
          <p:cNvPr id="6" name="Shape 3"/>
          <p:cNvSpPr/>
          <p:nvPr/>
        </p:nvSpPr>
        <p:spPr>
          <a:xfrm>
            <a:off x="548640" y="1691640"/>
            <a:ext cx="2651760" cy="4023360"/>
          </a:xfrm>
          <a:prstGeom prst="roundRect">
            <a:avLst>
              <a:gd name="adj" fmla="val 4138"/>
            </a:avLst>
          </a:prstGeom>
          <a:solidFill>
            <a:srgbClr val="DFF3FD"/>
          </a:solidFill>
          <a:ln/>
          <a:effectLst>
            <a:outerShdw sx="100000" sy="100000" kx="0" ky="0" algn="bl" rotWithShape="0" blurRad="127000" dist="38100" dir="5400000">
              <a:srgbClr val="0B1220">
                <a:alpha val="14000"/>
              </a:srgbClr>
            </a:outerShdw>
          </a:effectLst>
        </p:spPr>
      </p:sp>
      <p:sp>
        <p:nvSpPr>
          <p:cNvPr id="7" name="Text 4"/>
          <p:cNvSpPr txBox="1"/>
          <p:nvPr/>
        </p:nvSpPr>
        <p:spPr>
          <a:xfrm>
            <a:off x="777240" y="1828800"/>
            <a:ext cx="2194560" cy="868680"/>
          </a:xfrm>
          <a:prstGeom prst="rect">
            <a:avLst/>
          </a:prstGeom>
          <a:noFill/>
          <a:ln/>
        </p:spPr>
        <p:txBody>
          <a:bodyPr wrap="square" lIns="0" tIns="0" rIns="0" bIns="0" rtlCol="0" anchor="ctr"/>
          <a:lstStyle/>
          <a:p>
            <a:pPr indent="0" marL="0">
              <a:buNone/>
            </a:pPr>
            <a:r>
              <a:rPr lang="en-US" sz="4800" b="1" dirty="0">
                <a:solidFill>
                  <a:srgbClr val="5D687E"/>
                </a:solidFill>
              </a:rPr>
              <a:t>44%</a:t>
            </a:r>
            <a:endParaRPr lang="en-US" sz="4800" dirty="0"/>
          </a:p>
        </p:txBody>
      </p:sp>
      <p:sp>
        <p:nvSpPr>
          <p:cNvPr id="8" name="Text 5"/>
          <p:cNvSpPr txBox="1"/>
          <p:nvPr/>
        </p:nvSpPr>
        <p:spPr>
          <a:xfrm>
            <a:off x="777240" y="2697480"/>
            <a:ext cx="2194560" cy="548640"/>
          </a:xfrm>
          <a:prstGeom prst="rect">
            <a:avLst/>
          </a:prstGeom>
          <a:noFill/>
          <a:ln/>
        </p:spPr>
        <p:txBody>
          <a:bodyPr wrap="square" lIns="0" tIns="0" rIns="0" bIns="0" rtlCol="0" anchor="t"/>
          <a:lstStyle/>
          <a:p>
            <a:pPr indent="0" marL="0">
              <a:buNone/>
            </a:pPr>
            <a:r>
              <a:rPr lang="en-US" sz="1300" dirty="0">
                <a:solidFill>
                  <a:srgbClr val="5D687E"/>
                </a:solidFill>
              </a:rPr>
              <a:t>of price differences explained</a:t>
            </a:r>
            <a:endParaRPr lang="en-US" sz="1300" dirty="0"/>
          </a:p>
        </p:txBody>
      </p:sp>
      <p:sp>
        <p:nvSpPr>
          <p:cNvPr id="9" name="Shape 6"/>
          <p:cNvSpPr/>
          <p:nvPr/>
        </p:nvSpPr>
        <p:spPr>
          <a:xfrm>
            <a:off x="777240" y="3383280"/>
            <a:ext cx="201168" cy="201168"/>
          </a:xfrm>
          <a:prstGeom prst="ellipse">
            <a:avLst/>
          </a:prstGeom>
          <a:solidFill>
            <a:schemeClr val="accent6"/>
          </a:solidFill>
          <a:ln/>
        </p:spPr>
      </p:sp>
      <p:sp>
        <p:nvSpPr>
          <p:cNvPr id="10" name="Text 7"/>
          <p:cNvSpPr txBox="1"/>
          <p:nvPr/>
        </p:nvSpPr>
        <p:spPr>
          <a:xfrm>
            <a:off x="1078992" y="3291840"/>
            <a:ext cx="1965960" cy="594360"/>
          </a:xfrm>
          <a:prstGeom prst="rect">
            <a:avLst/>
          </a:prstGeom>
          <a:noFill/>
          <a:ln/>
        </p:spPr>
        <p:txBody>
          <a:bodyPr wrap="square" lIns="0" tIns="0" rIns="0" bIns="0" rtlCol="0" anchor="ctr"/>
          <a:lstStyle/>
          <a:p>
            <a:pPr indent="0" marL="0">
              <a:buNone/>
            </a:pPr>
            <a:r>
              <a:rPr lang="en-US" sz="1600" b="1" dirty="0">
                <a:solidFill>
                  <a:schemeClr val="tx1"/>
                </a:solidFill>
              </a:rPr>
              <a:t>One straight-line formula</a:t>
            </a:r>
            <a:endParaRPr lang="en-US" sz="1600" dirty="0"/>
          </a:p>
        </p:txBody>
      </p:sp>
      <p:sp>
        <p:nvSpPr>
          <p:cNvPr id="11" name="Text 8"/>
          <p:cNvSpPr txBox="1"/>
          <p:nvPr/>
        </p:nvSpPr>
        <p:spPr>
          <a:xfrm>
            <a:off x="777240" y="4023360"/>
            <a:ext cx="2240280" cy="1188720"/>
          </a:xfrm>
          <a:prstGeom prst="rect">
            <a:avLst/>
          </a:prstGeom>
          <a:noFill/>
          <a:ln/>
        </p:spPr>
        <p:txBody>
          <a:bodyPr wrap="square" lIns="0" tIns="0" rIns="0" bIns="0" rtlCol="0" anchor="t"/>
          <a:lstStyle/>
          <a:p>
            <a:pPr indent="0" marL="0">
              <a:buNone/>
            </a:pPr>
            <a:r>
              <a:rPr lang="en-US" sz="1300" dirty="0">
                <a:solidFill>
                  <a:srgbClr val="3B4660"/>
                </a:solidFill>
              </a:rPr>
              <a:t>Simple and fast, but it cannot see how factors combine</a:t>
            </a:r>
            <a:endParaRPr lang="en-US" sz="1300" dirty="0"/>
          </a:p>
        </p:txBody>
      </p:sp>
      <p:sp>
        <p:nvSpPr>
          <p:cNvPr id="12" name="Shape 9"/>
          <p:cNvSpPr/>
          <p:nvPr/>
        </p:nvSpPr>
        <p:spPr>
          <a:xfrm>
            <a:off x="3383280" y="1691640"/>
            <a:ext cx="2651760" cy="4023360"/>
          </a:xfrm>
          <a:prstGeom prst="roundRect">
            <a:avLst>
              <a:gd name="adj" fmla="val 4138"/>
            </a:avLst>
          </a:prstGeom>
          <a:solidFill>
            <a:srgbClr val="D9F5F0"/>
          </a:solidFill>
          <a:ln/>
          <a:effectLst>
            <a:outerShdw sx="100000" sy="100000" kx="0" ky="0" algn="bl" rotWithShape="0" blurRad="127000" dist="38100" dir="5400000">
              <a:srgbClr val="0B1220">
                <a:alpha val="14000"/>
              </a:srgbClr>
            </a:outerShdw>
          </a:effectLst>
        </p:spPr>
      </p:sp>
      <p:sp>
        <p:nvSpPr>
          <p:cNvPr id="13" name="Text 10"/>
          <p:cNvSpPr txBox="1"/>
          <p:nvPr/>
        </p:nvSpPr>
        <p:spPr>
          <a:xfrm>
            <a:off x="3611880" y="1828800"/>
            <a:ext cx="2194560" cy="868680"/>
          </a:xfrm>
          <a:prstGeom prst="rect">
            <a:avLst/>
          </a:prstGeom>
          <a:noFill/>
          <a:ln/>
        </p:spPr>
        <p:txBody>
          <a:bodyPr wrap="square" lIns="0" tIns="0" rIns="0" bIns="0" rtlCol="0" anchor="ctr"/>
          <a:lstStyle/>
          <a:p>
            <a:pPr indent="0" marL="0">
              <a:buNone/>
            </a:pPr>
            <a:r>
              <a:rPr lang="en-US" sz="4800" b="1" dirty="0">
                <a:solidFill>
                  <a:srgbClr val="0B1220"/>
                </a:solidFill>
              </a:rPr>
              <a:t>75%</a:t>
            </a:r>
            <a:endParaRPr lang="en-US" sz="4800" dirty="0"/>
          </a:p>
        </p:txBody>
      </p:sp>
      <p:sp>
        <p:nvSpPr>
          <p:cNvPr id="14" name="Text 11"/>
          <p:cNvSpPr txBox="1"/>
          <p:nvPr/>
        </p:nvSpPr>
        <p:spPr>
          <a:xfrm>
            <a:off x="3611880" y="2697480"/>
            <a:ext cx="2194560" cy="548640"/>
          </a:xfrm>
          <a:prstGeom prst="rect">
            <a:avLst/>
          </a:prstGeom>
          <a:noFill/>
          <a:ln/>
        </p:spPr>
        <p:txBody>
          <a:bodyPr wrap="square" lIns="0" tIns="0" rIns="0" bIns="0" rtlCol="0" anchor="t"/>
          <a:lstStyle/>
          <a:p>
            <a:pPr indent="0" marL="0">
              <a:buNone/>
            </a:pPr>
            <a:r>
              <a:rPr lang="en-US" sz="1300" dirty="0">
                <a:solidFill>
                  <a:srgbClr val="5D687E"/>
                </a:solidFill>
              </a:rPr>
              <a:t>of price differences explained</a:t>
            </a:r>
            <a:endParaRPr lang="en-US" sz="1300" dirty="0"/>
          </a:p>
        </p:txBody>
      </p:sp>
      <p:sp>
        <p:nvSpPr>
          <p:cNvPr id="15" name="Shape 12"/>
          <p:cNvSpPr/>
          <p:nvPr/>
        </p:nvSpPr>
        <p:spPr>
          <a:xfrm>
            <a:off x="3611880" y="3383280"/>
            <a:ext cx="201168" cy="201168"/>
          </a:xfrm>
          <a:prstGeom prst="ellipse">
            <a:avLst/>
          </a:prstGeom>
          <a:solidFill>
            <a:schemeClr val="accent2"/>
          </a:solidFill>
          <a:ln/>
        </p:spPr>
      </p:sp>
      <p:sp>
        <p:nvSpPr>
          <p:cNvPr id="16" name="Text 13"/>
          <p:cNvSpPr txBox="1"/>
          <p:nvPr/>
        </p:nvSpPr>
        <p:spPr>
          <a:xfrm>
            <a:off x="3913632" y="3291840"/>
            <a:ext cx="1965960" cy="594360"/>
          </a:xfrm>
          <a:prstGeom prst="rect">
            <a:avLst/>
          </a:prstGeom>
          <a:noFill/>
          <a:ln/>
        </p:spPr>
        <p:txBody>
          <a:bodyPr wrap="square" lIns="0" tIns="0" rIns="0" bIns="0" rtlCol="0" anchor="ctr"/>
          <a:lstStyle/>
          <a:p>
            <a:pPr indent="0" marL="0">
              <a:buNone/>
            </a:pPr>
            <a:r>
              <a:rPr lang="en-US" sz="1600" b="1" dirty="0">
                <a:solidFill>
                  <a:schemeClr val="tx1"/>
                </a:solidFill>
              </a:rPr>
              <a:t>A crowd of decision trees</a:t>
            </a:r>
            <a:endParaRPr lang="en-US" sz="1600" dirty="0"/>
          </a:p>
        </p:txBody>
      </p:sp>
      <p:sp>
        <p:nvSpPr>
          <p:cNvPr id="17" name="Text 14"/>
          <p:cNvSpPr txBox="1"/>
          <p:nvPr/>
        </p:nvSpPr>
        <p:spPr>
          <a:xfrm>
            <a:off x="3611880" y="4023360"/>
            <a:ext cx="2240280" cy="1188720"/>
          </a:xfrm>
          <a:prstGeom prst="rect">
            <a:avLst/>
          </a:prstGeom>
          <a:noFill/>
          <a:ln/>
        </p:spPr>
        <p:txBody>
          <a:bodyPr wrap="square" lIns="0" tIns="0" rIns="0" bIns="0" rtlCol="0" anchor="t"/>
          <a:lstStyle/>
          <a:p>
            <a:pPr indent="0" marL="0">
              <a:buNone/>
            </a:pPr>
            <a:r>
              <a:rPr lang="en-US" sz="1300" dirty="0">
                <a:solidFill>
                  <a:srgbClr val="3B4660"/>
                </a:solidFill>
              </a:rPr>
              <a:t>Many trees vote on the price; steady and hard to fool</a:t>
            </a:r>
            <a:endParaRPr lang="en-US" sz="1300" dirty="0"/>
          </a:p>
        </p:txBody>
      </p:sp>
      <p:sp>
        <p:nvSpPr>
          <p:cNvPr id="18" name="Shape 15"/>
          <p:cNvSpPr/>
          <p:nvPr/>
        </p:nvSpPr>
        <p:spPr>
          <a:xfrm>
            <a:off x="6217920" y="1691640"/>
            <a:ext cx="2651760" cy="4023360"/>
          </a:xfrm>
          <a:prstGeom prst="roundRect">
            <a:avLst>
              <a:gd name="adj" fmla="val 4138"/>
            </a:avLst>
          </a:prstGeom>
          <a:solidFill>
            <a:srgbClr val="ECE6FF"/>
          </a:solidFill>
          <a:ln/>
          <a:effectLst>
            <a:outerShdw sx="100000" sy="100000" kx="0" ky="0" algn="bl" rotWithShape="0" blurRad="127000" dist="38100" dir="5400000">
              <a:srgbClr val="0B1220">
                <a:alpha val="14000"/>
              </a:srgbClr>
            </a:outerShdw>
          </a:effectLst>
        </p:spPr>
      </p:sp>
      <p:sp>
        <p:nvSpPr>
          <p:cNvPr id="19" name="Text 16"/>
          <p:cNvSpPr txBox="1"/>
          <p:nvPr/>
        </p:nvSpPr>
        <p:spPr>
          <a:xfrm>
            <a:off x="6446520" y="1828800"/>
            <a:ext cx="2194560" cy="868680"/>
          </a:xfrm>
          <a:prstGeom prst="rect">
            <a:avLst/>
          </a:prstGeom>
          <a:noFill/>
          <a:ln/>
        </p:spPr>
        <p:txBody>
          <a:bodyPr wrap="square" lIns="0" tIns="0" rIns="0" bIns="0" rtlCol="0" anchor="ctr"/>
          <a:lstStyle/>
          <a:p>
            <a:pPr indent="0" marL="0">
              <a:buNone/>
            </a:pPr>
            <a:r>
              <a:rPr lang="en-US" sz="4800" b="1" dirty="0">
                <a:solidFill>
                  <a:srgbClr val="0B1220"/>
                </a:solidFill>
              </a:rPr>
              <a:t>76%</a:t>
            </a:r>
            <a:endParaRPr lang="en-US" sz="4800" dirty="0"/>
          </a:p>
        </p:txBody>
      </p:sp>
      <p:sp>
        <p:nvSpPr>
          <p:cNvPr id="20" name="Text 17"/>
          <p:cNvSpPr txBox="1"/>
          <p:nvPr/>
        </p:nvSpPr>
        <p:spPr>
          <a:xfrm>
            <a:off x="6446520" y="2697480"/>
            <a:ext cx="2194560" cy="548640"/>
          </a:xfrm>
          <a:prstGeom prst="rect">
            <a:avLst/>
          </a:prstGeom>
          <a:noFill/>
          <a:ln/>
        </p:spPr>
        <p:txBody>
          <a:bodyPr wrap="square" lIns="0" tIns="0" rIns="0" bIns="0" rtlCol="0" anchor="t"/>
          <a:lstStyle/>
          <a:p>
            <a:pPr indent="0" marL="0">
              <a:buNone/>
            </a:pPr>
            <a:r>
              <a:rPr lang="en-US" sz="1300" dirty="0">
                <a:solidFill>
                  <a:srgbClr val="5D687E"/>
                </a:solidFill>
              </a:rPr>
              <a:t>of price differences explained</a:t>
            </a:r>
            <a:endParaRPr lang="en-US" sz="1300" dirty="0"/>
          </a:p>
        </p:txBody>
      </p:sp>
      <p:sp>
        <p:nvSpPr>
          <p:cNvPr id="21" name="Shape 18"/>
          <p:cNvSpPr/>
          <p:nvPr/>
        </p:nvSpPr>
        <p:spPr>
          <a:xfrm>
            <a:off x="6446520" y="3383280"/>
            <a:ext cx="201168" cy="201168"/>
          </a:xfrm>
          <a:prstGeom prst="ellipse">
            <a:avLst/>
          </a:prstGeom>
          <a:solidFill>
            <a:schemeClr val="accent3"/>
          </a:solidFill>
          <a:ln/>
        </p:spPr>
      </p:sp>
      <p:sp>
        <p:nvSpPr>
          <p:cNvPr id="22" name="Text 19"/>
          <p:cNvSpPr txBox="1"/>
          <p:nvPr/>
        </p:nvSpPr>
        <p:spPr>
          <a:xfrm>
            <a:off x="6748272" y="3291840"/>
            <a:ext cx="1965960" cy="594360"/>
          </a:xfrm>
          <a:prstGeom prst="rect">
            <a:avLst/>
          </a:prstGeom>
          <a:noFill/>
          <a:ln/>
        </p:spPr>
        <p:txBody>
          <a:bodyPr wrap="square" lIns="0" tIns="0" rIns="0" bIns="0" rtlCol="0" anchor="ctr"/>
          <a:lstStyle/>
          <a:p>
            <a:pPr indent="0" marL="0">
              <a:buNone/>
            </a:pPr>
            <a:r>
              <a:rPr lang="en-US" sz="1600" b="1" dirty="0">
                <a:solidFill>
                  <a:schemeClr val="tx1"/>
                </a:solidFill>
              </a:rPr>
              <a:t>Fast boosted trees</a:t>
            </a:r>
            <a:endParaRPr lang="en-US" sz="1600" dirty="0"/>
          </a:p>
        </p:txBody>
      </p:sp>
      <p:sp>
        <p:nvSpPr>
          <p:cNvPr id="23" name="Text 20"/>
          <p:cNvSpPr txBox="1"/>
          <p:nvPr/>
        </p:nvSpPr>
        <p:spPr>
          <a:xfrm>
            <a:off x="6446520" y="4023360"/>
            <a:ext cx="2240280" cy="1188720"/>
          </a:xfrm>
          <a:prstGeom prst="rect">
            <a:avLst/>
          </a:prstGeom>
          <a:noFill/>
          <a:ln/>
        </p:spPr>
        <p:txBody>
          <a:bodyPr wrap="square" lIns="0" tIns="0" rIns="0" bIns="0" rtlCol="0" anchor="t"/>
          <a:lstStyle/>
          <a:p>
            <a:pPr indent="0" marL="0">
              <a:buNone/>
            </a:pPr>
            <a:r>
              <a:rPr lang="en-US" sz="1300" dirty="0">
                <a:solidFill>
                  <a:srgbClr val="3B4660"/>
                </a:solidFill>
              </a:rPr>
              <a:t>Trees built one after another, each fixing the last one's mistakes</a:t>
            </a:r>
            <a:endParaRPr lang="en-US" sz="1300" dirty="0"/>
          </a:p>
        </p:txBody>
      </p:sp>
      <p:sp>
        <p:nvSpPr>
          <p:cNvPr id="24" name="Shape 21"/>
          <p:cNvSpPr/>
          <p:nvPr/>
        </p:nvSpPr>
        <p:spPr>
          <a:xfrm>
            <a:off x="9052560" y="1691640"/>
            <a:ext cx="2651760" cy="4023360"/>
          </a:xfrm>
          <a:prstGeom prst="roundRect">
            <a:avLst>
              <a:gd name="adj" fmla="val 4138"/>
            </a:avLst>
          </a:prstGeom>
          <a:solidFill>
            <a:srgbClr val="E6EDFF"/>
          </a:solidFill>
          <a:ln/>
          <a:effectLst>
            <a:outerShdw sx="100000" sy="100000" kx="0" ky="0" algn="bl" rotWithShape="0" blurRad="127000" dist="38100" dir="5400000">
              <a:srgbClr val="0B1220">
                <a:alpha val="14000"/>
              </a:srgbClr>
            </a:outerShdw>
          </a:effectLst>
        </p:spPr>
      </p:sp>
      <p:sp>
        <p:nvSpPr>
          <p:cNvPr id="25" name="Shape 22"/>
          <p:cNvSpPr/>
          <p:nvPr/>
        </p:nvSpPr>
        <p:spPr>
          <a:xfrm>
            <a:off x="9052560" y="1691640"/>
            <a:ext cx="2651760" cy="4023360"/>
          </a:xfrm>
          <a:prstGeom prst="roundRect">
            <a:avLst>
              <a:gd name="adj" fmla="val 4138"/>
            </a:avLst>
          </a:prstGeom>
          <a:solidFill>
            <a:srgbClr val="FFFFFF">
              <a:alpha val="0"/>
            </a:srgbClr>
          </a:solidFill>
          <a:ln w="31750">
            <a:solidFill>
              <a:schemeClr val="accent1"/>
            </a:solidFill>
            <a:prstDash val="solid"/>
          </a:ln>
        </p:spPr>
      </p:sp>
      <p:sp>
        <p:nvSpPr>
          <p:cNvPr id="26" name="Text 23"/>
          <p:cNvSpPr txBox="1"/>
          <p:nvPr/>
        </p:nvSpPr>
        <p:spPr>
          <a:xfrm>
            <a:off x="9281160" y="1828800"/>
            <a:ext cx="2194560" cy="868680"/>
          </a:xfrm>
          <a:prstGeom prst="rect">
            <a:avLst/>
          </a:prstGeom>
          <a:noFill/>
          <a:ln/>
        </p:spPr>
        <p:txBody>
          <a:bodyPr wrap="square" lIns="0" tIns="0" rIns="0" bIns="0" rtlCol="0" anchor="ctr"/>
          <a:lstStyle/>
          <a:p>
            <a:pPr indent="0" marL="0">
              <a:buNone/>
            </a:pPr>
            <a:r>
              <a:rPr lang="en-US" sz="4800" b="1" dirty="0">
                <a:solidFill>
                  <a:srgbClr val="0B1220"/>
                </a:solidFill>
              </a:rPr>
              <a:t>76%</a:t>
            </a:r>
            <a:endParaRPr lang="en-US" sz="4800" dirty="0"/>
          </a:p>
        </p:txBody>
      </p:sp>
      <p:sp>
        <p:nvSpPr>
          <p:cNvPr id="27" name="Text 24"/>
          <p:cNvSpPr txBox="1"/>
          <p:nvPr/>
        </p:nvSpPr>
        <p:spPr>
          <a:xfrm>
            <a:off x="9281160" y="2697480"/>
            <a:ext cx="2194560" cy="548640"/>
          </a:xfrm>
          <a:prstGeom prst="rect">
            <a:avLst/>
          </a:prstGeom>
          <a:noFill/>
          <a:ln/>
        </p:spPr>
        <p:txBody>
          <a:bodyPr wrap="square" lIns="0" tIns="0" rIns="0" bIns="0" rtlCol="0" anchor="t"/>
          <a:lstStyle/>
          <a:p>
            <a:pPr indent="0" marL="0">
              <a:buNone/>
            </a:pPr>
            <a:r>
              <a:rPr lang="en-US" sz="1300" dirty="0">
                <a:solidFill>
                  <a:srgbClr val="5D687E"/>
                </a:solidFill>
              </a:rPr>
              <a:t>of price differences explained</a:t>
            </a:r>
            <a:endParaRPr lang="en-US" sz="1300" dirty="0"/>
          </a:p>
        </p:txBody>
      </p:sp>
      <p:sp>
        <p:nvSpPr>
          <p:cNvPr id="28" name="Shape 25"/>
          <p:cNvSpPr/>
          <p:nvPr/>
        </p:nvSpPr>
        <p:spPr>
          <a:xfrm>
            <a:off x="9281160" y="3383280"/>
            <a:ext cx="201168" cy="201168"/>
          </a:xfrm>
          <a:prstGeom prst="ellipse">
            <a:avLst/>
          </a:prstGeom>
          <a:solidFill>
            <a:schemeClr val="accent1"/>
          </a:solidFill>
          <a:ln/>
        </p:spPr>
      </p:sp>
      <p:sp>
        <p:nvSpPr>
          <p:cNvPr id="29" name="Text 26"/>
          <p:cNvSpPr txBox="1"/>
          <p:nvPr/>
        </p:nvSpPr>
        <p:spPr>
          <a:xfrm>
            <a:off x="9582912" y="3291840"/>
            <a:ext cx="1965960" cy="594360"/>
          </a:xfrm>
          <a:prstGeom prst="rect">
            <a:avLst/>
          </a:prstGeom>
          <a:noFill/>
          <a:ln/>
        </p:spPr>
        <p:txBody>
          <a:bodyPr wrap="square" lIns="0" tIns="0" rIns="0" bIns="0" rtlCol="0" anchor="ctr"/>
          <a:lstStyle/>
          <a:p>
            <a:pPr indent="0" marL="0">
              <a:buNone/>
            </a:pPr>
            <a:r>
              <a:rPr lang="en-US" sz="1600" b="1" dirty="0">
                <a:solidFill>
                  <a:schemeClr val="tx1"/>
                </a:solidFill>
              </a:rPr>
              <a:t>Careful boosted trees</a:t>
            </a:r>
            <a:endParaRPr lang="en-US" sz="1600" dirty="0"/>
          </a:p>
        </p:txBody>
      </p:sp>
      <p:sp>
        <p:nvSpPr>
          <p:cNvPr id="30" name="Text 27"/>
          <p:cNvSpPr txBox="1"/>
          <p:nvPr/>
        </p:nvSpPr>
        <p:spPr>
          <a:xfrm>
            <a:off x="9281160" y="4023360"/>
            <a:ext cx="2240280" cy="1188720"/>
          </a:xfrm>
          <a:prstGeom prst="rect">
            <a:avLst/>
          </a:prstGeom>
          <a:noFill/>
          <a:ln/>
        </p:spPr>
        <p:txBody>
          <a:bodyPr wrap="square" lIns="0" tIns="0" rIns="0" bIns="0" rtlCol="0" anchor="t"/>
          <a:lstStyle/>
          <a:p>
            <a:pPr indent="0" marL="0">
              <a:buNone/>
            </a:pPr>
            <a:r>
              <a:rPr lang="en-US" sz="1300" dirty="0">
                <a:solidFill>
                  <a:srgbClr val="3B4660"/>
                </a:solidFill>
              </a:rPr>
              <a:t>The same idea with built-in brakes against memorising rare cars</a:t>
            </a:r>
            <a:endParaRPr lang="en-US" sz="1300" dirty="0"/>
          </a:p>
        </p:txBody>
      </p:sp>
      <p:sp>
        <p:nvSpPr>
          <p:cNvPr id="31" name="Shape 28"/>
          <p:cNvSpPr/>
          <p:nvPr/>
        </p:nvSpPr>
        <p:spPr>
          <a:xfrm>
            <a:off x="9281160" y="5166360"/>
            <a:ext cx="1371600" cy="365760"/>
          </a:xfrm>
          <a:prstGeom prst="roundRect">
            <a:avLst>
              <a:gd name="adj" fmla="val 50000"/>
            </a:avLst>
          </a:prstGeom>
          <a:solidFill>
            <a:schemeClr val="accent1"/>
          </a:solidFill>
          <a:ln/>
        </p:spPr>
      </p:sp>
      <p:sp>
        <p:nvSpPr>
          <p:cNvPr id="32" name="Text 29"/>
          <p:cNvSpPr txBox="1"/>
          <p:nvPr/>
        </p:nvSpPr>
        <p:spPr>
          <a:xfrm>
            <a:off x="9281160" y="5166360"/>
            <a:ext cx="1371600" cy="365760"/>
          </a:xfrm>
          <a:prstGeom prst="rect">
            <a:avLst/>
          </a:prstGeom>
          <a:noFill/>
          <a:ln/>
        </p:spPr>
        <p:txBody>
          <a:bodyPr wrap="square" lIns="0" tIns="0" rIns="0" bIns="0" rtlCol="0" anchor="ctr"/>
          <a:lstStyle/>
          <a:p>
            <a:pPr algn="ctr" indent="0" marL="0">
              <a:buNone/>
            </a:pPr>
            <a:r>
              <a:rPr lang="en-US" sz="1300" b="1" dirty="0">
                <a:solidFill>
                  <a:schemeClr val="bg1"/>
                </a:solidFill>
              </a:rPr>
              <a:t>Our choice</a:t>
            </a:r>
            <a:endParaRPr lang="en-US" sz="1300" dirty="0"/>
          </a:p>
        </p:txBody>
      </p:sp>
      <p:sp>
        <p:nvSpPr>
          <p:cNvPr id="33" name="Shape 30"/>
          <p:cNvSpPr/>
          <p:nvPr/>
        </p:nvSpPr>
        <p:spPr>
          <a:xfrm>
            <a:off x="548640" y="5852160"/>
            <a:ext cx="11109960" cy="457200"/>
          </a:xfrm>
          <a:prstGeom prst="roundRect">
            <a:avLst>
              <a:gd name="adj" fmla="val 24000"/>
            </a:avLst>
          </a:prstGeom>
          <a:solidFill>
            <a:schemeClr val="bg1"/>
          </a:solidFill>
          <a:ln/>
          <a:effectLst>
            <a:outerShdw sx="100000" sy="100000" kx="0" ky="0" algn="bl" rotWithShape="0" blurRad="127000" dist="38100" dir="5400000">
              <a:srgbClr val="0B1220">
                <a:alpha val="14000"/>
              </a:srgbClr>
            </a:outerShdw>
          </a:effectLst>
        </p:spPr>
      </p:sp>
      <p:sp>
        <p:nvSpPr>
          <p:cNvPr id="34" name="Text 31"/>
          <p:cNvSpPr txBox="1"/>
          <p:nvPr/>
        </p:nvSpPr>
        <p:spPr>
          <a:xfrm>
            <a:off x="777240" y="5852160"/>
            <a:ext cx="10698480" cy="457200"/>
          </a:xfrm>
          <a:prstGeom prst="rect">
            <a:avLst/>
          </a:prstGeom>
          <a:noFill/>
          <a:ln/>
        </p:spPr>
        <p:txBody>
          <a:bodyPr wrap="square" lIns="0" tIns="0" rIns="0" bIns="0" rtlCol="0" anchor="ctr"/>
          <a:lstStyle/>
          <a:p>
            <a:pPr indent="0" marL="0">
              <a:buNone/>
            </a:pPr>
            <a:r>
              <a:rPr lang="en-US" sz="1400" b="1" dirty="0">
                <a:solidFill>
                  <a:schemeClr val="tx1"/>
                </a:solidFill>
              </a:rPr>
              <a:t>A fair exam: the models were tuned on one set of cars and then scored on 2,803 cars they had never seen.</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How well does it work?</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3"/>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2A1700"/>
                </a:solidFill>
              </a:rPr>
              <a:t>Presenting: Ranasinghe</a:t>
            </a:r>
            <a:endParaRPr lang="en-US" sz="1300" dirty="0"/>
          </a:p>
        </p:txBody>
      </p:sp>
      <p:sp>
        <p:nvSpPr>
          <p:cNvPr id="6" name="Shape 3"/>
          <p:cNvSpPr/>
          <p:nvPr/>
        </p:nvSpPr>
        <p:spPr>
          <a:xfrm>
            <a:off x="548640" y="1691640"/>
            <a:ext cx="5029200" cy="1325880"/>
          </a:xfrm>
          <a:prstGeom prst="roundRect">
            <a:avLst>
              <a:gd name="adj" fmla="val 8276"/>
            </a:avLst>
          </a:prstGeom>
          <a:solidFill>
            <a:srgbClr val="E6EDFF"/>
          </a:solidFill>
          <a:ln/>
          <a:effectLst>
            <a:outerShdw sx="100000" sy="100000" kx="0" ky="0" algn="bl" rotWithShape="0" blurRad="127000" dist="38100" dir="5400000">
              <a:srgbClr val="0B1220">
                <a:alpha val="14000"/>
              </a:srgbClr>
            </a:outerShdw>
          </a:effectLst>
        </p:spPr>
      </p:sp>
      <p:sp>
        <p:nvSpPr>
          <p:cNvPr id="7" name="Text 4"/>
          <p:cNvSpPr txBox="1"/>
          <p:nvPr/>
        </p:nvSpPr>
        <p:spPr>
          <a:xfrm>
            <a:off x="777240" y="1783080"/>
            <a:ext cx="2103120" cy="1143000"/>
          </a:xfrm>
          <a:prstGeom prst="rect">
            <a:avLst/>
          </a:prstGeom>
          <a:noFill/>
          <a:ln/>
        </p:spPr>
        <p:txBody>
          <a:bodyPr wrap="square" lIns="0" tIns="0" rIns="0" bIns="0" rtlCol="0" anchor="ctr"/>
          <a:lstStyle/>
          <a:p>
            <a:pPr indent="0" marL="0">
              <a:buNone/>
            </a:pPr>
            <a:r>
              <a:rPr lang="en-US" sz="4400" b="1" dirty="0">
                <a:solidFill>
                  <a:schemeClr val="accent1"/>
                </a:solidFill>
              </a:rPr>
              <a:t>64%</a:t>
            </a:r>
            <a:endParaRPr lang="en-US" sz="4400" dirty="0"/>
          </a:p>
        </p:txBody>
      </p:sp>
      <p:sp>
        <p:nvSpPr>
          <p:cNvPr id="8" name="Text 5"/>
          <p:cNvSpPr txBox="1"/>
          <p:nvPr/>
        </p:nvSpPr>
        <p:spPr>
          <a:xfrm>
            <a:off x="2926080" y="1783080"/>
            <a:ext cx="2514600" cy="1143000"/>
          </a:xfrm>
          <a:prstGeom prst="rect">
            <a:avLst/>
          </a:prstGeom>
          <a:noFill/>
          <a:ln/>
        </p:spPr>
        <p:txBody>
          <a:bodyPr wrap="square" lIns="0" tIns="0" rIns="0" bIns="0" rtlCol="0" anchor="ctr"/>
          <a:lstStyle/>
          <a:p>
            <a:pPr indent="0" marL="0">
              <a:buNone/>
            </a:pPr>
            <a:r>
              <a:rPr lang="en-US" sz="1500" dirty="0">
                <a:solidFill>
                  <a:srgbClr val="3B4660"/>
                </a:solidFill>
              </a:rPr>
              <a:t>of estimates are within 25% of the real price</a:t>
            </a:r>
            <a:endParaRPr lang="en-US" sz="1500" dirty="0"/>
          </a:p>
        </p:txBody>
      </p:sp>
      <p:sp>
        <p:nvSpPr>
          <p:cNvPr id="9" name="Shape 6"/>
          <p:cNvSpPr/>
          <p:nvPr/>
        </p:nvSpPr>
        <p:spPr>
          <a:xfrm>
            <a:off x="548640" y="3172968"/>
            <a:ext cx="5029200" cy="1325880"/>
          </a:xfrm>
          <a:prstGeom prst="roundRect">
            <a:avLst>
              <a:gd name="adj" fmla="val 8276"/>
            </a:avLst>
          </a:prstGeom>
          <a:solidFill>
            <a:srgbClr val="D9F5F0"/>
          </a:solidFill>
          <a:ln/>
          <a:effectLst>
            <a:outerShdw sx="100000" sy="100000" kx="0" ky="0" algn="bl" rotWithShape="0" blurRad="127000" dist="38100" dir="5400000">
              <a:srgbClr val="0B1220">
                <a:alpha val="14000"/>
              </a:srgbClr>
            </a:outerShdw>
          </a:effectLst>
        </p:spPr>
      </p:sp>
      <p:sp>
        <p:nvSpPr>
          <p:cNvPr id="10" name="Text 7"/>
          <p:cNvSpPr txBox="1"/>
          <p:nvPr/>
        </p:nvSpPr>
        <p:spPr>
          <a:xfrm>
            <a:off x="777240" y="3264408"/>
            <a:ext cx="2103120" cy="1143000"/>
          </a:xfrm>
          <a:prstGeom prst="rect">
            <a:avLst/>
          </a:prstGeom>
          <a:noFill/>
          <a:ln/>
        </p:spPr>
        <p:txBody>
          <a:bodyPr wrap="square" lIns="0" tIns="0" rIns="0" bIns="0" rtlCol="0" anchor="ctr"/>
          <a:lstStyle/>
          <a:p>
            <a:pPr indent="0" marL="0">
              <a:buNone/>
            </a:pPr>
            <a:r>
              <a:rPr lang="en-US" sz="4400" b="1" dirty="0">
                <a:solidFill>
                  <a:srgbClr val="0B8A7F"/>
                </a:solidFill>
              </a:rPr>
              <a:t>$4,688</a:t>
            </a:r>
            <a:endParaRPr lang="en-US" sz="4400" dirty="0"/>
          </a:p>
        </p:txBody>
      </p:sp>
      <p:sp>
        <p:nvSpPr>
          <p:cNvPr id="11" name="Text 8"/>
          <p:cNvSpPr txBox="1"/>
          <p:nvPr/>
        </p:nvSpPr>
        <p:spPr>
          <a:xfrm>
            <a:off x="2926080" y="3264408"/>
            <a:ext cx="2514600" cy="1143000"/>
          </a:xfrm>
          <a:prstGeom prst="rect">
            <a:avLst/>
          </a:prstGeom>
          <a:noFill/>
          <a:ln/>
        </p:spPr>
        <p:txBody>
          <a:bodyPr wrap="square" lIns="0" tIns="0" rIns="0" bIns="0" rtlCol="0" anchor="ctr"/>
          <a:lstStyle/>
          <a:p>
            <a:pPr indent="0" marL="0">
              <a:buNone/>
            </a:pPr>
            <a:r>
              <a:rPr lang="en-US" sz="1500" dirty="0">
                <a:solidFill>
                  <a:srgbClr val="3B4660"/>
                </a:solidFill>
              </a:rPr>
              <a:t>average error on cars the model had never seen</a:t>
            </a:r>
            <a:endParaRPr lang="en-US" sz="1500" dirty="0"/>
          </a:p>
        </p:txBody>
      </p:sp>
      <p:sp>
        <p:nvSpPr>
          <p:cNvPr id="12" name="Shape 9"/>
          <p:cNvSpPr/>
          <p:nvPr/>
        </p:nvSpPr>
        <p:spPr>
          <a:xfrm>
            <a:off x="548640" y="4654296"/>
            <a:ext cx="5029200" cy="1325880"/>
          </a:xfrm>
          <a:prstGeom prst="roundRect">
            <a:avLst>
              <a:gd name="adj" fmla="val 8276"/>
            </a:avLst>
          </a:prstGeom>
          <a:solidFill>
            <a:srgbClr val="FFE3DD"/>
          </a:solidFill>
          <a:ln/>
          <a:effectLst>
            <a:outerShdw sx="100000" sy="100000" kx="0" ky="0" algn="bl" rotWithShape="0" blurRad="127000" dist="38100" dir="5400000">
              <a:srgbClr val="0B1220">
                <a:alpha val="14000"/>
              </a:srgbClr>
            </a:outerShdw>
          </a:effectLst>
        </p:spPr>
      </p:sp>
      <p:sp>
        <p:nvSpPr>
          <p:cNvPr id="13" name="Text 10"/>
          <p:cNvSpPr txBox="1"/>
          <p:nvPr/>
        </p:nvSpPr>
        <p:spPr>
          <a:xfrm>
            <a:off x="777240" y="4745736"/>
            <a:ext cx="2103120" cy="1143000"/>
          </a:xfrm>
          <a:prstGeom prst="rect">
            <a:avLst/>
          </a:prstGeom>
          <a:noFill/>
          <a:ln/>
        </p:spPr>
        <p:txBody>
          <a:bodyPr wrap="square" lIns="0" tIns="0" rIns="0" bIns="0" rtlCol="0" anchor="ctr"/>
          <a:lstStyle/>
          <a:p>
            <a:pPr indent="0" marL="0">
              <a:buNone/>
            </a:pPr>
            <a:r>
              <a:rPr lang="en-US" sz="4400" b="1" dirty="0">
                <a:solidFill>
                  <a:srgbClr val="D9442F"/>
                </a:solidFill>
              </a:rPr>
              <a:t>76%</a:t>
            </a:r>
            <a:endParaRPr lang="en-US" sz="4400" dirty="0"/>
          </a:p>
        </p:txBody>
      </p:sp>
      <p:sp>
        <p:nvSpPr>
          <p:cNvPr id="14" name="Text 11"/>
          <p:cNvSpPr txBox="1"/>
          <p:nvPr/>
        </p:nvSpPr>
        <p:spPr>
          <a:xfrm>
            <a:off x="2926080" y="4745736"/>
            <a:ext cx="2514600" cy="1143000"/>
          </a:xfrm>
          <a:prstGeom prst="rect">
            <a:avLst/>
          </a:prstGeom>
          <a:noFill/>
          <a:ln/>
        </p:spPr>
        <p:txBody>
          <a:bodyPr wrap="square" lIns="0" tIns="0" rIns="0" bIns="0" rtlCol="0" anchor="ctr"/>
          <a:lstStyle/>
          <a:p>
            <a:pPr indent="0" marL="0">
              <a:buNone/>
            </a:pPr>
            <a:r>
              <a:rPr lang="en-US" sz="1500" dirty="0">
                <a:solidFill>
                  <a:srgbClr val="3B4660"/>
                </a:solidFill>
              </a:rPr>
              <a:t>of the differences in price are explained</a:t>
            </a:r>
            <a:endParaRPr lang="en-US" sz="1500" dirty="0"/>
          </a:p>
        </p:txBody>
      </p:sp>
      <p:graphicFrame>
        <p:nvGraphicFramePr>
          <p:cNvPr id="15" name="Chart 0" descr=""/>
          <p:cNvGraphicFramePr/>
          <p:nvPr/>
        </p:nvGraphicFramePr>
        <p:xfrm>
          <a:off x="5943600" y="1600200"/>
          <a:ext cx="5715000" cy="4023360"/>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5943600" y="5715000"/>
            <a:ext cx="5715000" cy="548640"/>
          </a:xfrm>
          <a:prstGeom prst="rect">
            <a:avLst/>
          </a:prstGeom>
          <a:noFill/>
          <a:ln/>
        </p:spPr>
        <p:txBody>
          <a:bodyPr wrap="square" lIns="0" tIns="0" rIns="0" bIns="0" rtlCol="0" anchor="t"/>
          <a:lstStyle/>
          <a:p>
            <a:pPr indent="0" marL="0">
              <a:buNone/>
            </a:pPr>
            <a:r>
              <a:rPr lang="en-US" sz="1400" b="1" dirty="0">
                <a:solidFill>
                  <a:schemeClr val="tx1"/>
                </a:solidFill>
              </a:rPr>
              <a:t>Weakest for very cheap cars: those listings often do not follow the car's specification.</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See it working</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4"/>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2A0A05"/>
                </a:solidFill>
              </a:rPr>
              <a:t>Presenting: Gunasekara</a:t>
            </a:r>
            <a:endParaRPr lang="en-US" sz="1300" dirty="0"/>
          </a:p>
        </p:txBody>
      </p:sp>
      <p:pic>
        <p:nvPicPr>
          <p:cNvPr id="6" name="Image 0" descr="Screenshot of the price estimator showing a result">    </p:cNvPr>
          <p:cNvPicPr>
            <a:picLocks noChangeAspect="1"/>
          </p:cNvPicPr>
          <p:nvPr/>
        </p:nvPicPr>
        <p:blipFill>
          <a:blip r:embed="rId2"/>
          <a:stretch>
            <a:fillRect/>
          </a:stretch>
        </p:blipFill>
        <p:spPr>
          <a:xfrm>
            <a:off x="548640" y="1554480"/>
            <a:ext cx="6583680" cy="4572000"/>
          </a:xfrm>
          <a:prstGeom prst="rect">
            <a:avLst/>
          </a:prstGeom>
        </p:spPr>
      </p:pic>
      <p:sp>
        <p:nvSpPr>
          <p:cNvPr id="7" name="Shape 3"/>
          <p:cNvSpPr/>
          <p:nvPr/>
        </p:nvSpPr>
        <p:spPr>
          <a:xfrm>
            <a:off x="7498080" y="1645920"/>
            <a:ext cx="566928" cy="566928"/>
          </a:xfrm>
          <a:prstGeom prst="ellipse">
            <a:avLst/>
          </a:prstGeom>
          <a:solidFill>
            <a:schemeClr val="accent1"/>
          </a:solidFill>
          <a:ln/>
        </p:spPr>
      </p:sp>
      <p:sp>
        <p:nvSpPr>
          <p:cNvPr id="8" name="Text 4"/>
          <p:cNvSpPr txBox="1"/>
          <p:nvPr/>
        </p:nvSpPr>
        <p:spPr>
          <a:xfrm>
            <a:off x="7498080" y="16459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8229600" y="1627632"/>
            <a:ext cx="3429000" cy="365760"/>
          </a:xfrm>
          <a:prstGeom prst="rect">
            <a:avLst/>
          </a:prstGeom>
          <a:noFill/>
          <a:ln/>
        </p:spPr>
        <p:txBody>
          <a:bodyPr wrap="square" lIns="0" tIns="0" rIns="0" bIns="0" rtlCol="0" anchor="ctr"/>
          <a:lstStyle/>
          <a:p>
            <a:pPr indent="0" marL="0">
              <a:buNone/>
            </a:pPr>
            <a:r>
              <a:rPr lang="en-US" sz="1700" b="1" dirty="0">
                <a:solidFill>
                  <a:schemeClr val="tx1"/>
                </a:solidFill>
              </a:rPr>
              <a:t>Choose the car</a:t>
            </a:r>
            <a:endParaRPr lang="en-US" sz="1700" dirty="0"/>
          </a:p>
        </p:txBody>
      </p:sp>
      <p:sp>
        <p:nvSpPr>
          <p:cNvPr id="10" name="Text 6"/>
          <p:cNvSpPr txBox="1"/>
          <p:nvPr/>
        </p:nvSpPr>
        <p:spPr>
          <a:xfrm>
            <a:off x="8229600" y="2011680"/>
            <a:ext cx="3429000" cy="548640"/>
          </a:xfrm>
          <a:prstGeom prst="rect">
            <a:avLst/>
          </a:prstGeom>
          <a:noFill/>
          <a:ln/>
        </p:spPr>
        <p:txBody>
          <a:bodyPr wrap="square" lIns="0" tIns="0" rIns="0" bIns="0" rtlCol="0" anchor="t"/>
          <a:lstStyle/>
          <a:p>
            <a:pPr indent="0" marL="0">
              <a:buNone/>
            </a:pPr>
            <a:r>
              <a:rPr lang="en-US" sz="1400" dirty="0">
                <a:solidFill>
                  <a:srgbClr val="3B4660"/>
                </a:solidFill>
              </a:rPr>
              <a:t>Use “Fill an example car” or enter the details</a:t>
            </a:r>
            <a:endParaRPr lang="en-US" sz="1400" dirty="0"/>
          </a:p>
        </p:txBody>
      </p:sp>
      <p:sp>
        <p:nvSpPr>
          <p:cNvPr id="11" name="Shape 7"/>
          <p:cNvSpPr/>
          <p:nvPr/>
        </p:nvSpPr>
        <p:spPr>
          <a:xfrm>
            <a:off x="7498080" y="2761488"/>
            <a:ext cx="566928" cy="566928"/>
          </a:xfrm>
          <a:prstGeom prst="ellipse">
            <a:avLst/>
          </a:prstGeom>
          <a:solidFill>
            <a:schemeClr val="accent2"/>
          </a:solidFill>
          <a:ln/>
        </p:spPr>
      </p:sp>
      <p:sp>
        <p:nvSpPr>
          <p:cNvPr id="12" name="Text 8"/>
          <p:cNvSpPr txBox="1"/>
          <p:nvPr/>
        </p:nvSpPr>
        <p:spPr>
          <a:xfrm>
            <a:off x="7498080" y="2761488"/>
            <a:ext cx="566928" cy="566928"/>
          </a:xfrm>
          <a:prstGeom prst="rect">
            <a:avLst/>
          </a:prstGeom>
          <a:noFill/>
          <a:ln/>
        </p:spPr>
        <p:txBody>
          <a:bodyPr wrap="square" lIns="0" tIns="0" rIns="0" bIns="0" rtlCol="0" anchor="ctr"/>
          <a:lstStyle/>
          <a:p>
            <a:pPr algn="ctr" indent="0" marL="0">
              <a:buNone/>
            </a:pPr>
            <a:r>
              <a:rPr lang="en-US" sz="1600" b="1" dirty="0">
                <a:solidFill>
                  <a:srgbClr val="0B1220"/>
                </a:solidFill>
              </a:rPr>
              <a:t>2</a:t>
            </a:r>
            <a:endParaRPr lang="en-US" sz="1600" dirty="0"/>
          </a:p>
        </p:txBody>
      </p:sp>
      <p:sp>
        <p:nvSpPr>
          <p:cNvPr id="13" name="Text 9"/>
          <p:cNvSpPr txBox="1"/>
          <p:nvPr/>
        </p:nvSpPr>
        <p:spPr>
          <a:xfrm>
            <a:off x="8229600" y="2743200"/>
            <a:ext cx="3429000" cy="365760"/>
          </a:xfrm>
          <a:prstGeom prst="rect">
            <a:avLst/>
          </a:prstGeom>
          <a:noFill/>
          <a:ln/>
        </p:spPr>
        <p:txBody>
          <a:bodyPr wrap="square" lIns="0" tIns="0" rIns="0" bIns="0" rtlCol="0" anchor="ctr"/>
          <a:lstStyle/>
          <a:p>
            <a:pPr indent="0" marL="0">
              <a:buNone/>
            </a:pPr>
            <a:r>
              <a:rPr lang="en-US" sz="1700" b="1" dirty="0">
                <a:solidFill>
                  <a:schemeClr val="tx1"/>
                </a:solidFill>
              </a:rPr>
              <a:t>Press “Estimate price”</a:t>
            </a:r>
            <a:endParaRPr lang="en-US" sz="1700" dirty="0"/>
          </a:p>
        </p:txBody>
      </p:sp>
      <p:sp>
        <p:nvSpPr>
          <p:cNvPr id="14" name="Text 10"/>
          <p:cNvSpPr txBox="1"/>
          <p:nvPr/>
        </p:nvSpPr>
        <p:spPr>
          <a:xfrm>
            <a:off x="8229600" y="3127248"/>
            <a:ext cx="3429000" cy="548640"/>
          </a:xfrm>
          <a:prstGeom prst="rect">
            <a:avLst/>
          </a:prstGeom>
          <a:noFill/>
          <a:ln/>
        </p:spPr>
        <p:txBody>
          <a:bodyPr wrap="square" lIns="0" tIns="0" rIns="0" bIns="0" rtlCol="0" anchor="t"/>
          <a:lstStyle/>
          <a:p>
            <a:pPr indent="0" marL="0">
              <a:buNone/>
            </a:pPr>
            <a:r>
              <a:rPr lang="en-US" sz="1400" dirty="0">
                <a:solidFill>
                  <a:srgbClr val="3B4660"/>
                </a:solidFill>
              </a:rPr>
              <a:t>The answer appears in about a second</a:t>
            </a:r>
            <a:endParaRPr lang="en-US" sz="1400" dirty="0"/>
          </a:p>
        </p:txBody>
      </p:sp>
      <p:sp>
        <p:nvSpPr>
          <p:cNvPr id="15" name="Shape 11"/>
          <p:cNvSpPr/>
          <p:nvPr/>
        </p:nvSpPr>
        <p:spPr>
          <a:xfrm>
            <a:off x="7498080" y="3877056"/>
            <a:ext cx="566928" cy="566928"/>
          </a:xfrm>
          <a:prstGeom prst="ellipse">
            <a:avLst/>
          </a:prstGeom>
          <a:solidFill>
            <a:schemeClr val="accent3"/>
          </a:solidFill>
          <a:ln/>
        </p:spPr>
      </p:sp>
      <p:sp>
        <p:nvSpPr>
          <p:cNvPr id="16" name="Text 12"/>
          <p:cNvSpPr txBox="1"/>
          <p:nvPr/>
        </p:nvSpPr>
        <p:spPr>
          <a:xfrm>
            <a:off x="7498080" y="3877056"/>
            <a:ext cx="566928" cy="566928"/>
          </a:xfrm>
          <a:prstGeom prst="rect">
            <a:avLst/>
          </a:prstGeom>
          <a:noFill/>
          <a:ln/>
        </p:spPr>
        <p:txBody>
          <a:bodyPr wrap="square" lIns="0" tIns="0" rIns="0" bIns="0" rtlCol="0" anchor="ctr"/>
          <a:lstStyle/>
          <a:p>
            <a:pPr algn="ctr" indent="0" marL="0">
              <a:buNone/>
            </a:pPr>
            <a:r>
              <a:rPr lang="en-US" sz="1600" b="1" dirty="0">
                <a:solidFill>
                  <a:srgbClr val="0B1220"/>
                </a:solidFill>
              </a:rPr>
              <a:t>3</a:t>
            </a:r>
            <a:endParaRPr lang="en-US" sz="1600" dirty="0"/>
          </a:p>
        </p:txBody>
      </p:sp>
      <p:sp>
        <p:nvSpPr>
          <p:cNvPr id="17" name="Text 13"/>
          <p:cNvSpPr txBox="1"/>
          <p:nvPr/>
        </p:nvSpPr>
        <p:spPr>
          <a:xfrm>
            <a:off x="8229600" y="3858768"/>
            <a:ext cx="3429000" cy="365760"/>
          </a:xfrm>
          <a:prstGeom prst="rect">
            <a:avLst/>
          </a:prstGeom>
          <a:noFill/>
          <a:ln/>
        </p:spPr>
        <p:txBody>
          <a:bodyPr wrap="square" lIns="0" tIns="0" rIns="0" bIns="0" rtlCol="0" anchor="ctr"/>
          <a:lstStyle/>
          <a:p>
            <a:pPr indent="0" marL="0">
              <a:buNone/>
            </a:pPr>
            <a:r>
              <a:rPr lang="en-US" sz="1700" b="1" dirty="0">
                <a:solidFill>
                  <a:schemeClr val="tx1"/>
                </a:solidFill>
              </a:rPr>
              <a:t>Read the range bar</a:t>
            </a:r>
            <a:endParaRPr lang="en-US" sz="1700" dirty="0"/>
          </a:p>
        </p:txBody>
      </p:sp>
      <p:sp>
        <p:nvSpPr>
          <p:cNvPr id="18" name="Text 14"/>
          <p:cNvSpPr txBox="1"/>
          <p:nvPr/>
        </p:nvSpPr>
        <p:spPr>
          <a:xfrm>
            <a:off x="8229600" y="4242816"/>
            <a:ext cx="3429000" cy="548640"/>
          </a:xfrm>
          <a:prstGeom prst="rect">
            <a:avLst/>
          </a:prstGeom>
          <a:noFill/>
          <a:ln/>
        </p:spPr>
        <p:txBody>
          <a:bodyPr wrap="square" lIns="0" tIns="0" rIns="0" bIns="0" rtlCol="0" anchor="t"/>
          <a:lstStyle/>
          <a:p>
            <a:pPr indent="0" marL="0">
              <a:buNone/>
            </a:pPr>
            <a:r>
              <a:rPr lang="en-US" sz="1400" dirty="0">
                <a:solidFill>
                  <a:srgbClr val="3B4660"/>
                </a:solidFill>
              </a:rPr>
              <a:t>Price, likely range and the asking price on one line</a:t>
            </a:r>
            <a:endParaRPr lang="en-US" sz="1400" dirty="0"/>
          </a:p>
        </p:txBody>
      </p:sp>
      <p:sp>
        <p:nvSpPr>
          <p:cNvPr id="19" name="Shape 15"/>
          <p:cNvSpPr/>
          <p:nvPr/>
        </p:nvSpPr>
        <p:spPr>
          <a:xfrm>
            <a:off x="7498080" y="4992624"/>
            <a:ext cx="566928" cy="566928"/>
          </a:xfrm>
          <a:prstGeom prst="ellipse">
            <a:avLst/>
          </a:prstGeom>
          <a:solidFill>
            <a:schemeClr val="accent4"/>
          </a:solidFill>
          <a:ln/>
        </p:spPr>
      </p:sp>
      <p:sp>
        <p:nvSpPr>
          <p:cNvPr id="20" name="Text 16"/>
          <p:cNvSpPr txBox="1"/>
          <p:nvPr/>
        </p:nvSpPr>
        <p:spPr>
          <a:xfrm>
            <a:off x="7498080" y="4992624"/>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7"/>
          <p:cNvSpPr txBox="1"/>
          <p:nvPr/>
        </p:nvSpPr>
        <p:spPr>
          <a:xfrm>
            <a:off x="8229600" y="4974336"/>
            <a:ext cx="3429000" cy="365760"/>
          </a:xfrm>
          <a:prstGeom prst="rect">
            <a:avLst/>
          </a:prstGeom>
          <a:noFill/>
          <a:ln/>
        </p:spPr>
        <p:txBody>
          <a:bodyPr wrap="square" lIns="0" tIns="0" rIns="0" bIns="0" rtlCol="0" anchor="ctr"/>
          <a:lstStyle/>
          <a:p>
            <a:pPr indent="0" marL="0">
              <a:buNone/>
            </a:pPr>
            <a:r>
              <a:rPr lang="en-US" sz="1700" b="1" dirty="0">
                <a:solidFill>
                  <a:schemeClr val="tx1"/>
                </a:solidFill>
              </a:rPr>
              <a:t>Check the asking price</a:t>
            </a:r>
            <a:endParaRPr lang="en-US" sz="1700" dirty="0"/>
          </a:p>
        </p:txBody>
      </p:sp>
      <p:sp>
        <p:nvSpPr>
          <p:cNvPr id="22" name="Text 18"/>
          <p:cNvSpPr txBox="1"/>
          <p:nvPr/>
        </p:nvSpPr>
        <p:spPr>
          <a:xfrm>
            <a:off x="8229600" y="5358384"/>
            <a:ext cx="3429000" cy="548640"/>
          </a:xfrm>
          <a:prstGeom prst="rect">
            <a:avLst/>
          </a:prstGeom>
          <a:noFill/>
          <a:ln/>
        </p:spPr>
        <p:txBody>
          <a:bodyPr wrap="square" lIns="0" tIns="0" rIns="0" bIns="0" rtlCol="0" anchor="t"/>
          <a:lstStyle/>
          <a:p>
            <a:pPr indent="0" marL="0">
              <a:buNone/>
            </a:pPr>
            <a:r>
              <a:rPr lang="en-US" sz="1400" dirty="0">
                <a:solidFill>
                  <a:srgbClr val="3B4660"/>
                </a:solidFill>
              </a:rPr>
              <a:t>A plain sentence says if it looks fair</a:t>
            </a:r>
            <a:endParaRPr lang="en-US" sz="1400" dirty="0"/>
          </a:p>
        </p:txBody>
      </p:sp>
      <p:sp>
        <p:nvSpPr>
          <p:cNvPr id="23" name="Text 19"/>
          <p:cNvSpPr txBox="1"/>
          <p:nvPr/>
        </p:nvSpPr>
        <p:spPr>
          <a:xfrm>
            <a:off x="7498080" y="6126480"/>
            <a:ext cx="4160520" cy="274320"/>
          </a:xfrm>
          <a:prstGeom prst="rect">
            <a:avLst/>
          </a:prstGeom>
          <a:noFill/>
          <a:ln/>
        </p:spPr>
        <p:txBody>
          <a:bodyPr wrap="square" lIns="0" tIns="0" rIns="0" bIns="0" rtlCol="0" anchor="ctr"/>
          <a:lstStyle/>
          <a:p>
            <a:pPr indent="0" marL="0">
              <a:buNone/>
            </a:pPr>
            <a:r>
              <a:rPr lang="en-US" sz="1200" b="1" dirty="0">
                <a:solidFill>
                  <a:srgbClr val="5D687E"/>
                </a:solidFill>
              </a:rPr>
              <a:t>Live demonstration: http://127.0.0.1:5000</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What we recommend</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4"/>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2A0A05"/>
                </a:solidFill>
              </a:rPr>
              <a:t>Presenting: Gunasekara</a:t>
            </a:r>
            <a:endParaRPr lang="en-US" sz="1300" dirty="0"/>
          </a:p>
        </p:txBody>
      </p:sp>
      <p:sp>
        <p:nvSpPr>
          <p:cNvPr id="6" name="Shape 3"/>
          <p:cNvSpPr/>
          <p:nvPr/>
        </p:nvSpPr>
        <p:spPr>
          <a:xfrm>
            <a:off x="548640" y="1691640"/>
            <a:ext cx="3520440" cy="4160520"/>
          </a:xfrm>
          <a:prstGeom prst="roundRect">
            <a:avLst>
              <a:gd name="adj" fmla="val 3117"/>
            </a:avLst>
          </a:prstGeom>
          <a:solidFill>
            <a:srgbClr val="E6EDFF"/>
          </a:solidFill>
          <a:ln/>
          <a:effectLst>
            <a:outerShdw sx="100000" sy="100000" kx="0" ky="0" algn="bl" rotWithShape="0" blurRad="127000" dist="38100" dir="5400000">
              <a:srgbClr val="0B1220">
                <a:alpha val="14000"/>
              </a:srgbClr>
            </a:outerShdw>
          </a:effectLst>
        </p:spPr>
      </p:sp>
      <p:pic>
        <p:nvPicPr>
          <p:cNvPr id="7" name="Image 0" descr="Buyers illustration">    </p:cNvPr>
          <p:cNvPicPr>
            <a:picLocks noChangeAspect="1"/>
          </p:cNvPicPr>
          <p:nvPr/>
        </p:nvPicPr>
        <p:blipFill>
          <a:blip r:embed="rId2"/>
          <a:stretch>
            <a:fillRect/>
          </a:stretch>
        </p:blipFill>
        <p:spPr>
          <a:xfrm>
            <a:off x="960120" y="1828800"/>
            <a:ext cx="2697480" cy="963386"/>
          </a:xfrm>
          <a:prstGeom prst="rect">
            <a:avLst/>
          </a:prstGeom>
        </p:spPr>
      </p:pic>
      <p:sp>
        <p:nvSpPr>
          <p:cNvPr id="8" name="Text 4"/>
          <p:cNvSpPr txBox="1"/>
          <p:nvPr/>
        </p:nvSpPr>
        <p:spPr>
          <a:xfrm>
            <a:off x="822960" y="3200400"/>
            <a:ext cx="3017520" cy="457200"/>
          </a:xfrm>
          <a:prstGeom prst="rect">
            <a:avLst/>
          </a:prstGeom>
          <a:noFill/>
          <a:ln/>
        </p:spPr>
        <p:txBody>
          <a:bodyPr wrap="square" lIns="0" tIns="0" rIns="0" bIns="0" rtlCol="0" anchor="ctr"/>
          <a:lstStyle/>
          <a:p>
            <a:pPr indent="0" marL="0">
              <a:buNone/>
            </a:pPr>
            <a:r>
              <a:rPr lang="en-US" sz="2400" b="1" dirty="0">
                <a:solidFill>
                  <a:srgbClr val="2F6BFF"/>
                </a:solidFill>
              </a:rPr>
              <a:t>Buyers</a:t>
            </a:r>
            <a:endParaRPr lang="en-US" sz="2400" dirty="0"/>
          </a:p>
        </p:txBody>
      </p:sp>
      <p:sp>
        <p:nvSpPr>
          <p:cNvPr id="9" name="Text 5"/>
          <p:cNvSpPr txBox="1"/>
          <p:nvPr/>
        </p:nvSpPr>
        <p:spPr>
          <a:xfrm>
            <a:off x="822960" y="3703320"/>
            <a:ext cx="3017520" cy="1143000"/>
          </a:xfrm>
          <a:prstGeom prst="rect">
            <a:avLst/>
          </a:prstGeom>
          <a:noFill/>
          <a:ln/>
        </p:spPr>
        <p:txBody>
          <a:bodyPr wrap="square" lIns="0" tIns="0" rIns="0" bIns="0" rtlCol="0" anchor="t"/>
          <a:lstStyle/>
          <a:p>
            <a:pPr indent="0" marL="0">
              <a:buNone/>
            </a:pPr>
            <a:r>
              <a:rPr lang="en-US" sz="1500" dirty="0">
                <a:solidFill>
                  <a:schemeClr val="tx1"/>
                </a:solidFill>
              </a:rPr>
              <a:t>Use the range as your starting point. A price far below it deserves extra checks of the car's history.</a:t>
            </a:r>
            <a:endParaRPr lang="en-US" sz="1500" dirty="0"/>
          </a:p>
        </p:txBody>
      </p:sp>
      <p:sp>
        <p:nvSpPr>
          <p:cNvPr id="10" name="Shape 6"/>
          <p:cNvSpPr/>
          <p:nvPr/>
        </p:nvSpPr>
        <p:spPr>
          <a:xfrm>
            <a:off x="822960" y="5029200"/>
            <a:ext cx="2971800" cy="594360"/>
          </a:xfrm>
          <a:prstGeom prst="roundRect">
            <a:avLst>
              <a:gd name="adj" fmla="val 15385"/>
            </a:avLst>
          </a:prstGeom>
          <a:solidFill>
            <a:schemeClr val="bg1"/>
          </a:solidFill>
          <a:ln/>
        </p:spPr>
      </p:sp>
      <p:sp>
        <p:nvSpPr>
          <p:cNvPr id="11" name="Text 7"/>
          <p:cNvSpPr txBox="1"/>
          <p:nvPr/>
        </p:nvSpPr>
        <p:spPr>
          <a:xfrm>
            <a:off x="914400" y="5029200"/>
            <a:ext cx="2788920" cy="594360"/>
          </a:xfrm>
          <a:prstGeom prst="rect">
            <a:avLst/>
          </a:prstGeom>
          <a:noFill/>
          <a:ln/>
        </p:spPr>
        <p:txBody>
          <a:bodyPr wrap="square" lIns="0" tIns="0" rIns="0" bIns="0" rtlCol="0" anchor="ctr"/>
          <a:lstStyle/>
          <a:p>
            <a:pPr indent="0" marL="0">
              <a:buNone/>
            </a:pPr>
            <a:r>
              <a:rPr lang="en-US" sz="1200" b="1" dirty="0">
                <a:solidFill>
                  <a:schemeClr val="tx1"/>
                </a:solidFill>
              </a:rPr>
              <a:t>Evidence: 80% of real prices fell inside the range</a:t>
            </a:r>
            <a:endParaRPr lang="en-US" sz="1200" dirty="0"/>
          </a:p>
        </p:txBody>
      </p:sp>
      <p:sp>
        <p:nvSpPr>
          <p:cNvPr id="12" name="Shape 8"/>
          <p:cNvSpPr/>
          <p:nvPr/>
        </p:nvSpPr>
        <p:spPr>
          <a:xfrm>
            <a:off x="4343400" y="1691640"/>
            <a:ext cx="3520440" cy="4160520"/>
          </a:xfrm>
          <a:prstGeom prst="roundRect">
            <a:avLst>
              <a:gd name="adj" fmla="val 3117"/>
            </a:avLst>
          </a:prstGeom>
          <a:solidFill>
            <a:srgbClr val="D9F5F0"/>
          </a:solidFill>
          <a:ln/>
          <a:effectLst>
            <a:outerShdw sx="100000" sy="100000" kx="0" ky="0" algn="bl" rotWithShape="0" blurRad="127000" dist="38100" dir="5400000">
              <a:srgbClr val="0B1220">
                <a:alpha val="14000"/>
              </a:srgbClr>
            </a:outerShdw>
          </a:effectLst>
        </p:spPr>
      </p:sp>
      <p:pic>
        <p:nvPicPr>
          <p:cNvPr id="13" name="Image 1" descr="Sellers illustration">    </p:cNvPr>
          <p:cNvPicPr>
            <a:picLocks noChangeAspect="1"/>
          </p:cNvPicPr>
          <p:nvPr/>
        </p:nvPicPr>
        <p:blipFill>
          <a:blip r:embed="rId3"/>
          <a:stretch>
            <a:fillRect/>
          </a:stretch>
        </p:blipFill>
        <p:spPr>
          <a:xfrm>
            <a:off x="4754880" y="1828800"/>
            <a:ext cx="2697480" cy="998665"/>
          </a:xfrm>
          <a:prstGeom prst="rect">
            <a:avLst/>
          </a:prstGeom>
        </p:spPr>
      </p:pic>
      <p:sp>
        <p:nvSpPr>
          <p:cNvPr id="14" name="Text 9"/>
          <p:cNvSpPr txBox="1"/>
          <p:nvPr/>
        </p:nvSpPr>
        <p:spPr>
          <a:xfrm>
            <a:off x="4617720" y="3200400"/>
            <a:ext cx="3017520" cy="457200"/>
          </a:xfrm>
          <a:prstGeom prst="rect">
            <a:avLst/>
          </a:prstGeom>
          <a:noFill/>
          <a:ln/>
        </p:spPr>
        <p:txBody>
          <a:bodyPr wrap="square" lIns="0" tIns="0" rIns="0" bIns="0" rtlCol="0" anchor="ctr"/>
          <a:lstStyle/>
          <a:p>
            <a:pPr indent="0" marL="0">
              <a:buNone/>
            </a:pPr>
            <a:r>
              <a:rPr lang="en-US" sz="2400" b="1" dirty="0">
                <a:solidFill>
                  <a:srgbClr val="0B8A7F"/>
                </a:solidFill>
              </a:rPr>
              <a:t>Sellers</a:t>
            </a:r>
            <a:endParaRPr lang="en-US" sz="2400" dirty="0"/>
          </a:p>
        </p:txBody>
      </p:sp>
      <p:sp>
        <p:nvSpPr>
          <p:cNvPr id="15" name="Text 10"/>
          <p:cNvSpPr txBox="1"/>
          <p:nvPr/>
        </p:nvSpPr>
        <p:spPr>
          <a:xfrm>
            <a:off x="4617720" y="3703320"/>
            <a:ext cx="3017520" cy="1143000"/>
          </a:xfrm>
          <a:prstGeom prst="rect">
            <a:avLst/>
          </a:prstGeom>
          <a:noFill/>
          <a:ln/>
        </p:spPr>
        <p:txBody>
          <a:bodyPr wrap="square" lIns="0" tIns="0" rIns="0" bIns="0" rtlCol="0" anchor="t"/>
          <a:lstStyle/>
          <a:p>
            <a:pPr indent="0" marL="0">
              <a:buNone/>
            </a:pPr>
            <a:r>
              <a:rPr lang="en-US" sz="1500" dirty="0">
                <a:solidFill>
                  <a:schemeClr val="tx1"/>
                </a:solidFill>
              </a:rPr>
              <a:t>List close to the estimate. The range shows how much room you have to negotiate.</a:t>
            </a:r>
            <a:endParaRPr lang="en-US" sz="1500" dirty="0"/>
          </a:p>
        </p:txBody>
      </p:sp>
      <p:sp>
        <p:nvSpPr>
          <p:cNvPr id="16" name="Shape 11"/>
          <p:cNvSpPr/>
          <p:nvPr/>
        </p:nvSpPr>
        <p:spPr>
          <a:xfrm>
            <a:off x="4617720" y="5029200"/>
            <a:ext cx="2971800" cy="594360"/>
          </a:xfrm>
          <a:prstGeom prst="roundRect">
            <a:avLst>
              <a:gd name="adj" fmla="val 15385"/>
            </a:avLst>
          </a:prstGeom>
          <a:solidFill>
            <a:schemeClr val="bg1"/>
          </a:solidFill>
          <a:ln/>
        </p:spPr>
      </p:sp>
      <p:sp>
        <p:nvSpPr>
          <p:cNvPr id="17" name="Text 12"/>
          <p:cNvSpPr txBox="1"/>
          <p:nvPr/>
        </p:nvSpPr>
        <p:spPr>
          <a:xfrm>
            <a:off x="4709160" y="5029200"/>
            <a:ext cx="2788920" cy="594360"/>
          </a:xfrm>
          <a:prstGeom prst="rect">
            <a:avLst/>
          </a:prstGeom>
          <a:noFill/>
          <a:ln/>
        </p:spPr>
        <p:txBody>
          <a:bodyPr wrap="square" lIns="0" tIns="0" rIns="0" bIns="0" rtlCol="0" anchor="ctr"/>
          <a:lstStyle/>
          <a:p>
            <a:pPr indent="0" marL="0">
              <a:buNone/>
            </a:pPr>
            <a:r>
              <a:rPr lang="en-US" sz="1200" b="1" dirty="0">
                <a:solidFill>
                  <a:schemeClr val="tx1"/>
                </a:solidFill>
              </a:rPr>
              <a:t>Evidence: Typical estimate error: $4,688</a:t>
            </a:r>
            <a:endParaRPr lang="en-US" sz="1200" dirty="0"/>
          </a:p>
        </p:txBody>
      </p:sp>
      <p:sp>
        <p:nvSpPr>
          <p:cNvPr id="18" name="Shape 13"/>
          <p:cNvSpPr/>
          <p:nvPr/>
        </p:nvSpPr>
        <p:spPr>
          <a:xfrm>
            <a:off x="8138160" y="1691640"/>
            <a:ext cx="3520440" cy="4160520"/>
          </a:xfrm>
          <a:prstGeom prst="roundRect">
            <a:avLst>
              <a:gd name="adj" fmla="val 3117"/>
            </a:avLst>
          </a:prstGeom>
          <a:solidFill>
            <a:srgbClr val="FFE3DD"/>
          </a:solidFill>
          <a:ln/>
          <a:effectLst>
            <a:outerShdw sx="100000" sy="100000" kx="0" ky="0" algn="bl" rotWithShape="0" blurRad="127000" dist="38100" dir="5400000">
              <a:srgbClr val="0B1220">
                <a:alpha val="14000"/>
              </a:srgbClr>
            </a:outerShdw>
          </a:effectLst>
        </p:spPr>
      </p:sp>
      <p:pic>
        <p:nvPicPr>
          <p:cNvPr id="19" name="Image 2" descr="Dealers illustration">    </p:cNvPr>
          <p:cNvPicPr>
            <a:picLocks noChangeAspect="1"/>
          </p:cNvPicPr>
          <p:nvPr/>
        </p:nvPicPr>
        <p:blipFill>
          <a:blip r:embed="rId4"/>
          <a:stretch>
            <a:fillRect/>
          </a:stretch>
        </p:blipFill>
        <p:spPr>
          <a:xfrm>
            <a:off x="8549640" y="1828800"/>
            <a:ext cx="2697480" cy="890114"/>
          </a:xfrm>
          <a:prstGeom prst="rect">
            <a:avLst/>
          </a:prstGeom>
        </p:spPr>
      </p:pic>
      <p:sp>
        <p:nvSpPr>
          <p:cNvPr id="20" name="Text 14"/>
          <p:cNvSpPr txBox="1"/>
          <p:nvPr/>
        </p:nvSpPr>
        <p:spPr>
          <a:xfrm>
            <a:off x="8412480" y="3200400"/>
            <a:ext cx="3017520" cy="457200"/>
          </a:xfrm>
          <a:prstGeom prst="rect">
            <a:avLst/>
          </a:prstGeom>
          <a:noFill/>
          <a:ln/>
        </p:spPr>
        <p:txBody>
          <a:bodyPr wrap="square" lIns="0" tIns="0" rIns="0" bIns="0" rtlCol="0" anchor="ctr"/>
          <a:lstStyle/>
          <a:p>
            <a:pPr indent="0" marL="0">
              <a:buNone/>
            </a:pPr>
            <a:r>
              <a:rPr lang="en-US" sz="2400" b="1" dirty="0">
                <a:solidFill>
                  <a:srgbClr val="D9442F"/>
                </a:solidFill>
              </a:rPr>
              <a:t>Dealers</a:t>
            </a:r>
            <a:endParaRPr lang="en-US" sz="2400" dirty="0"/>
          </a:p>
        </p:txBody>
      </p:sp>
      <p:sp>
        <p:nvSpPr>
          <p:cNvPr id="21" name="Text 15"/>
          <p:cNvSpPr txBox="1"/>
          <p:nvPr/>
        </p:nvSpPr>
        <p:spPr>
          <a:xfrm>
            <a:off x="8412480" y="3703320"/>
            <a:ext cx="3017520" cy="1143000"/>
          </a:xfrm>
          <a:prstGeom prst="rect">
            <a:avLst/>
          </a:prstGeom>
          <a:noFill/>
          <a:ln/>
        </p:spPr>
        <p:txBody>
          <a:bodyPr wrap="square" lIns="0" tIns="0" rIns="0" bIns="0" rtlCol="0" anchor="t"/>
          <a:lstStyle/>
          <a:p>
            <a:pPr indent="0" marL="0">
              <a:buNone/>
            </a:pPr>
            <a:r>
              <a:rPr lang="en-US" sz="1500" dirty="0">
                <a:solidFill>
                  <a:schemeClr val="tx1"/>
                </a:solidFill>
              </a:rPr>
              <a:t>Check age and equipment first, they drive most of the price. Look closer when the four models disagree.</a:t>
            </a:r>
            <a:endParaRPr lang="en-US" sz="1500" dirty="0"/>
          </a:p>
        </p:txBody>
      </p:sp>
      <p:sp>
        <p:nvSpPr>
          <p:cNvPr id="22" name="Shape 16"/>
          <p:cNvSpPr/>
          <p:nvPr/>
        </p:nvSpPr>
        <p:spPr>
          <a:xfrm>
            <a:off x="8412480" y="5029200"/>
            <a:ext cx="2971800" cy="594360"/>
          </a:xfrm>
          <a:prstGeom prst="roundRect">
            <a:avLst>
              <a:gd name="adj" fmla="val 15385"/>
            </a:avLst>
          </a:prstGeom>
          <a:solidFill>
            <a:schemeClr val="bg1"/>
          </a:solidFill>
          <a:ln/>
        </p:spPr>
      </p:sp>
      <p:sp>
        <p:nvSpPr>
          <p:cNvPr id="23" name="Text 17"/>
          <p:cNvSpPr txBox="1"/>
          <p:nvPr/>
        </p:nvSpPr>
        <p:spPr>
          <a:xfrm>
            <a:off x="8503920" y="5029200"/>
            <a:ext cx="2788920" cy="594360"/>
          </a:xfrm>
          <a:prstGeom prst="rect">
            <a:avLst/>
          </a:prstGeom>
          <a:noFill/>
          <a:ln/>
        </p:spPr>
        <p:txBody>
          <a:bodyPr wrap="square" lIns="0" tIns="0" rIns="0" bIns="0" rtlCol="0" anchor="ctr"/>
          <a:lstStyle/>
          <a:p>
            <a:pPr indent="0" marL="0">
              <a:buNone/>
            </a:pPr>
            <a:r>
              <a:rPr lang="en-US" sz="1200" b="1" dirty="0">
                <a:solidFill>
                  <a:schemeClr val="tx1"/>
                </a:solidFill>
              </a:rPr>
              <a:t>Evidence: Age alone: 42% of accuracy</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548640" y="365760"/>
            <a:ext cx="8595360" cy="1051560"/>
          </a:xfrm>
          <a:prstGeom prst="rect">
            <a:avLst/>
          </a:prstGeom>
          <a:noFill/>
          <a:ln/>
        </p:spPr>
        <p:txBody>
          <a:bodyPr wrap="square" lIns="0" tIns="0" rIns="0" bIns="0" rtlCol="0" anchor="t">
            <a:normAutofit/>
          </a:bodyPr>
          <a:lstStyle/>
          <a:p>
            <a:pPr indent="0" marL="0">
              <a:buNone/>
            </a:pPr>
            <a:r>
              <a:rPr lang="en-US" sz="3600" b="1" dirty="0">
                <a:solidFill>
                  <a:schemeClr val="tx1"/>
                </a:solidFill>
              </a:rPr>
              <a:t>Limits, and what we would improve next</a:t>
            </a:r>
            <a:endParaRPr lang="en-US" sz="3600" dirty="0"/>
          </a:p>
        </p:txBody>
      </p:sp>
      <p:sp>
        <p:nvSpPr>
          <p:cNvPr id="3" name="Presenter chip"/>
          <p:cNvSpPr/>
          <p:nvPr/>
        </p:nvSpPr>
        <p:spPr>
          <a:xfrm>
            <a:off x="9464040" y="457200"/>
            <a:ext cx="2194560" cy="420624"/>
          </a:xfrm>
          <a:prstGeom prst="roundRect">
            <a:avLst>
              <a:gd name="adj" fmla="val 50000"/>
            </a:avLst>
          </a:prstGeom>
          <a:solidFill>
            <a:schemeClr val="accent4"/>
          </a:solidFill>
          <a:ln/>
        </p:spPr>
      </p:sp>
      <p:sp>
        <p:nvSpPr>
          <p:cNvPr id="4" name="Presenter name"/>
          <p:cNvSpPr txBox="1"/>
          <p:nvPr/>
        </p:nvSpPr>
        <p:spPr>
          <a:xfrm>
            <a:off x="9464040" y="457200"/>
            <a:ext cx="2194560" cy="420624"/>
          </a:xfrm>
          <a:prstGeom prst="rect">
            <a:avLst/>
          </a:prstGeom>
          <a:noFill/>
          <a:ln/>
        </p:spPr>
        <p:txBody>
          <a:bodyPr wrap="square" lIns="0" tIns="0" rIns="0" bIns="0" rtlCol="0" anchor="ctr"/>
          <a:lstStyle/>
          <a:p>
            <a:pPr algn="ctr" indent="0" marL="0">
              <a:buNone/>
            </a:pPr>
            <a:r>
              <a:rPr lang="en-US" sz="1300" b="1" dirty="0">
                <a:solidFill>
                  <a:srgbClr val="2A0A05"/>
                </a:solidFill>
              </a:rPr>
              <a:t>Presenting: Gunasekara</a:t>
            </a:r>
            <a:endParaRPr lang="en-US" sz="1300" dirty="0"/>
          </a:p>
        </p:txBody>
      </p:sp>
      <p:sp>
        <p:nvSpPr>
          <p:cNvPr id="6" name="Shape 3"/>
          <p:cNvSpPr/>
          <p:nvPr/>
        </p:nvSpPr>
        <p:spPr>
          <a:xfrm>
            <a:off x="548640" y="1691640"/>
            <a:ext cx="3794760" cy="4343400"/>
          </a:xfrm>
          <a:prstGeom prst="roundRect">
            <a:avLst>
              <a:gd name="adj" fmla="val 2892"/>
            </a:avLst>
          </a:prstGeom>
          <a:solidFill>
            <a:srgbClr val="FFE3DD"/>
          </a:solidFill>
          <a:ln/>
          <a:effectLst>
            <a:outerShdw sx="100000" sy="100000" kx="0" ky="0" algn="bl" rotWithShape="0" blurRad="127000" dist="38100" dir="5400000">
              <a:srgbClr val="0B1220">
                <a:alpha val="14000"/>
              </a:srgbClr>
            </a:outerShdw>
          </a:effectLst>
        </p:spPr>
      </p:sp>
      <p:sp>
        <p:nvSpPr>
          <p:cNvPr id="7" name="Text 4"/>
          <p:cNvSpPr txBox="1"/>
          <p:nvPr/>
        </p:nvSpPr>
        <p:spPr>
          <a:xfrm>
            <a:off x="822960" y="1874520"/>
            <a:ext cx="3291840" cy="457200"/>
          </a:xfrm>
          <a:prstGeom prst="rect">
            <a:avLst/>
          </a:prstGeom>
          <a:noFill/>
          <a:ln/>
        </p:spPr>
        <p:txBody>
          <a:bodyPr wrap="square" lIns="0" tIns="0" rIns="0" bIns="0" rtlCol="0" anchor="ctr"/>
          <a:lstStyle/>
          <a:p>
            <a:pPr indent="0" marL="0">
              <a:buNone/>
            </a:pPr>
            <a:r>
              <a:rPr lang="en-US" sz="2000" b="1" dirty="0">
                <a:solidFill>
                  <a:srgbClr val="D9442F"/>
                </a:solidFill>
              </a:rPr>
              <a:t>Limits we want you to know</a:t>
            </a:r>
            <a:endParaRPr lang="en-US" sz="2000" dirty="0"/>
          </a:p>
        </p:txBody>
      </p:sp>
      <p:sp>
        <p:nvSpPr>
          <p:cNvPr id="8" name="Text 5"/>
          <p:cNvSpPr txBox="1"/>
          <p:nvPr/>
        </p:nvSpPr>
        <p:spPr>
          <a:xfrm>
            <a:off x="822960" y="2423160"/>
            <a:ext cx="3291840" cy="34747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Very cheap listings are hard to predict</a:t>
            </a:r>
            <a:endParaRPr lang="en-US" sz="1500" dirty="0"/>
          </a:p>
          <a:p>
            <a:pPr marL="342900" indent="-342900">
              <a:spcAft>
                <a:spcPts val="900"/>
              </a:spcAft>
              <a:buSzPct val="100000"/>
              <a:buChar char="•"/>
            </a:pPr>
            <a:r>
              <a:rPr lang="en-US" sz="1500" dirty="0">
                <a:solidFill>
                  <a:schemeClr val="tx1"/>
                </a:solidFill>
              </a:rPr>
              <a:t>Only 1.6% of cars are from 2019–2020, so recent cars are the least certain</a:t>
            </a:r>
            <a:endParaRPr lang="en-US" sz="1500" dirty="0"/>
          </a:p>
          <a:p>
            <a:pPr marL="342900" indent="-342900">
              <a:spcAft>
                <a:spcPts val="900"/>
              </a:spcAft>
              <a:buSzPct val="100000"/>
              <a:buChar char="•"/>
            </a:pPr>
            <a:r>
              <a:rPr lang="en-US" sz="1500" dirty="0">
                <a:solidFill>
                  <a:schemeClr val="tx1"/>
                </a:solidFill>
              </a:rPr>
              <a:t>Modifications and condition are not recorded, so a modified car can be worth much more or less</a:t>
            </a:r>
            <a:endParaRPr lang="en-US" sz="1500" dirty="0"/>
          </a:p>
          <a:p>
            <a:pPr marL="342900" indent="-342900">
              <a:spcAft>
                <a:spcPts val="900"/>
              </a:spcAft>
              <a:buSzPct val="100000"/>
              <a:buChar char="•"/>
            </a:pPr>
            <a:r>
              <a:rPr lang="en-US" sz="1500" dirty="0">
                <a:solidFill>
                  <a:schemeClr val="tx1"/>
                </a:solidFill>
              </a:rPr>
              <a:t>One country and one period of time; classic cars from before 1980 are not covered</a:t>
            </a:r>
            <a:endParaRPr lang="en-US" sz="1500" dirty="0"/>
          </a:p>
          <a:p>
            <a:pPr marL="342900" indent="-342900">
              <a:spcAft>
                <a:spcPts val="900"/>
              </a:spcAft>
              <a:buSzPct val="100000"/>
              <a:buChar char="•"/>
            </a:pPr>
            <a:r>
              <a:rPr lang="en-US" sz="1500" dirty="0">
                <a:solidFill>
                  <a:schemeClr val="tx1"/>
                </a:solidFill>
              </a:rPr>
              <a:t>The range is wide: 0.565 to 1.382 times the estimate</a:t>
            </a:r>
            <a:endParaRPr lang="en-US" sz="1500" dirty="0"/>
          </a:p>
        </p:txBody>
      </p:sp>
      <p:sp>
        <p:nvSpPr>
          <p:cNvPr id="9" name="Shape 6"/>
          <p:cNvSpPr/>
          <p:nvPr/>
        </p:nvSpPr>
        <p:spPr>
          <a:xfrm>
            <a:off x="4526280" y="1691640"/>
            <a:ext cx="3794760" cy="4343400"/>
          </a:xfrm>
          <a:prstGeom prst="roundRect">
            <a:avLst>
              <a:gd name="adj" fmla="val 2892"/>
            </a:avLst>
          </a:prstGeom>
          <a:solidFill>
            <a:srgbClr val="D9F5F0"/>
          </a:solidFill>
          <a:ln/>
          <a:effectLst>
            <a:outerShdw sx="100000" sy="100000" kx="0" ky="0" algn="bl" rotWithShape="0" blurRad="127000" dist="38100" dir="5400000">
              <a:srgbClr val="0B1220">
                <a:alpha val="14000"/>
              </a:srgbClr>
            </a:outerShdw>
          </a:effectLst>
        </p:spPr>
      </p:sp>
      <p:sp>
        <p:nvSpPr>
          <p:cNvPr id="10" name="Text 7"/>
          <p:cNvSpPr txBox="1"/>
          <p:nvPr/>
        </p:nvSpPr>
        <p:spPr>
          <a:xfrm>
            <a:off x="4800600" y="1874520"/>
            <a:ext cx="3291840" cy="457200"/>
          </a:xfrm>
          <a:prstGeom prst="rect">
            <a:avLst/>
          </a:prstGeom>
          <a:noFill/>
          <a:ln/>
        </p:spPr>
        <p:txBody>
          <a:bodyPr wrap="square" lIns="0" tIns="0" rIns="0" bIns="0" rtlCol="0" anchor="ctr"/>
          <a:lstStyle/>
          <a:p>
            <a:pPr indent="0" marL="0">
              <a:buNone/>
            </a:pPr>
            <a:r>
              <a:rPr lang="en-US" sz="2000" b="1" dirty="0">
                <a:solidFill>
                  <a:srgbClr val="0B8A7F"/>
                </a:solidFill>
              </a:rPr>
              <a:t>What we would do next</a:t>
            </a:r>
            <a:endParaRPr lang="en-US" sz="2000" dirty="0"/>
          </a:p>
        </p:txBody>
      </p:sp>
      <p:sp>
        <p:nvSpPr>
          <p:cNvPr id="11" name="Text 8"/>
          <p:cNvSpPr txBox="1"/>
          <p:nvPr/>
        </p:nvSpPr>
        <p:spPr>
          <a:xfrm>
            <a:off x="4800600" y="2423160"/>
            <a:ext cx="3291840" cy="34747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Collect more recent listings</a:t>
            </a:r>
            <a:endParaRPr lang="en-US" sz="1500" dirty="0"/>
          </a:p>
          <a:p>
            <a:pPr marL="342900" indent="-342900">
              <a:spcAft>
                <a:spcPts val="900"/>
              </a:spcAft>
              <a:buSzPct val="100000"/>
              <a:buChar char="•"/>
            </a:pPr>
            <a:r>
              <a:rPr lang="en-US" sz="1500" dirty="0">
                <a:solidFill>
                  <a:schemeClr val="tx1"/>
                </a:solidFill>
              </a:rPr>
              <a:t>Use the car's model name, such as Camry</a:t>
            </a:r>
            <a:endParaRPr lang="en-US" sz="1500" dirty="0"/>
          </a:p>
          <a:p>
            <a:pPr marL="342900" indent="-342900">
              <a:spcAft>
                <a:spcPts val="900"/>
              </a:spcAft>
              <a:buSzPct val="100000"/>
              <a:buChar char="•"/>
            </a:pPr>
            <a:r>
              <a:rPr lang="en-US" sz="1500" dirty="0">
                <a:solidFill>
                  <a:schemeClr val="tx1"/>
                </a:solidFill>
              </a:rPr>
              <a:t>Give each car a range that fits it</a:t>
            </a:r>
            <a:endParaRPr lang="en-US" sz="1500" dirty="0"/>
          </a:p>
          <a:p>
            <a:pPr marL="342900" indent="-342900">
              <a:spcAft>
                <a:spcPts val="900"/>
              </a:spcAft>
              <a:buSzPct val="100000"/>
              <a:buChar char="•"/>
            </a:pPr>
            <a:r>
              <a:rPr lang="en-US" sz="1500" dirty="0">
                <a:solidFill>
                  <a:schemeClr val="tx1"/>
                </a:solidFill>
              </a:rPr>
              <a:t>Host the website online for everyone</a:t>
            </a:r>
            <a:endParaRPr lang="en-US" sz="1500" dirty="0"/>
          </a:p>
        </p:txBody>
      </p:sp>
      <p:sp>
        <p:nvSpPr>
          <p:cNvPr id="12" name="Shape 9"/>
          <p:cNvSpPr/>
          <p:nvPr/>
        </p:nvSpPr>
        <p:spPr>
          <a:xfrm>
            <a:off x="8705088" y="1801368"/>
            <a:ext cx="3017520" cy="2010766"/>
          </a:xfrm>
          <a:prstGeom prst="roundRect">
            <a:avLst>
              <a:gd name="adj" fmla="val 13643"/>
            </a:avLst>
          </a:prstGeom>
          <a:solidFill>
            <a:schemeClr val="accent2"/>
          </a:solidFill>
          <a:ln/>
        </p:spPr>
      </p:sp>
      <p:pic>
        <p:nvPicPr>
          <p:cNvPr id="13" name="Image 0" descr="Photo of a green classic Volkswagen Beetle on a forest road">    </p:cNvPr>
          <p:cNvPicPr>
            <a:picLocks noChangeAspect="1"/>
          </p:cNvPicPr>
          <p:nvPr/>
        </p:nvPicPr>
        <p:blipFill>
          <a:blip r:embed="rId2"/>
          <a:stretch>
            <a:fillRect/>
          </a:stretch>
        </p:blipFill>
        <p:spPr>
          <a:xfrm>
            <a:off x="8595360" y="1691640"/>
            <a:ext cx="3017520" cy="2010766"/>
          </a:xfrm>
          <a:prstGeom prst="rect">
            <a:avLst/>
          </a:prstGeom>
        </p:spPr>
      </p:pic>
      <p:sp>
        <p:nvSpPr>
          <p:cNvPr id="14" name="Shape 10"/>
          <p:cNvSpPr/>
          <p:nvPr/>
        </p:nvSpPr>
        <p:spPr>
          <a:xfrm>
            <a:off x="8778240" y="1828800"/>
            <a:ext cx="1828800" cy="365760"/>
          </a:xfrm>
          <a:prstGeom prst="roundRect">
            <a:avLst>
              <a:gd name="adj" fmla="val 50000"/>
            </a:avLst>
          </a:prstGeom>
          <a:solidFill>
            <a:schemeClr val="accent2"/>
          </a:solidFill>
          <a:ln/>
        </p:spPr>
      </p:sp>
      <p:sp>
        <p:nvSpPr>
          <p:cNvPr id="15" name="Text 11"/>
          <p:cNvSpPr txBox="1"/>
          <p:nvPr/>
        </p:nvSpPr>
        <p:spPr>
          <a:xfrm>
            <a:off x="8778240" y="1828800"/>
            <a:ext cx="1828800" cy="365760"/>
          </a:xfrm>
          <a:prstGeom prst="rect">
            <a:avLst/>
          </a:prstGeom>
          <a:noFill/>
          <a:ln/>
        </p:spPr>
        <p:txBody>
          <a:bodyPr wrap="square" lIns="0" tIns="0" rIns="0" bIns="0" rtlCol="0" anchor="ctr"/>
          <a:lstStyle/>
          <a:p>
            <a:pPr algn="ctr" indent="0" marL="0">
              <a:buNone/>
            </a:pPr>
            <a:r>
              <a:rPr lang="en-US" sz="1200" b="1" dirty="0">
                <a:solidFill>
                  <a:srgbClr val="062B28"/>
                </a:solidFill>
              </a:rPr>
              <a:t>Classic: before 1980</a:t>
            </a:r>
            <a:endParaRPr lang="en-US" sz="1200" dirty="0"/>
          </a:p>
        </p:txBody>
      </p:sp>
      <p:sp>
        <p:nvSpPr>
          <p:cNvPr id="16" name="Shape 12"/>
          <p:cNvSpPr/>
          <p:nvPr/>
        </p:nvSpPr>
        <p:spPr>
          <a:xfrm>
            <a:off x="8705088" y="4224528"/>
            <a:ext cx="3017520" cy="1700784"/>
          </a:xfrm>
          <a:prstGeom prst="roundRect">
            <a:avLst>
              <a:gd name="adj" fmla="val 16129"/>
            </a:avLst>
          </a:prstGeom>
          <a:solidFill>
            <a:schemeClr val="accent3"/>
          </a:solidFill>
          <a:ln/>
        </p:spPr>
      </p:sp>
      <p:pic>
        <p:nvPicPr>
          <p:cNvPr id="17" name="Image 1" descr="Photo of a white, modified Toyota Starlet Glanza">    </p:cNvPr>
          <p:cNvPicPr>
            <a:picLocks noChangeAspect="1"/>
          </p:cNvPicPr>
          <p:nvPr/>
        </p:nvPicPr>
        <p:blipFill>
          <a:blip r:embed="rId3"/>
          <a:stretch>
            <a:fillRect/>
          </a:stretch>
        </p:blipFill>
        <p:spPr>
          <a:xfrm>
            <a:off x="8595360" y="4114800"/>
            <a:ext cx="3017520" cy="1700784"/>
          </a:xfrm>
          <a:prstGeom prst="rect">
            <a:avLst/>
          </a:prstGeom>
        </p:spPr>
      </p:pic>
      <p:sp>
        <p:nvSpPr>
          <p:cNvPr id="18" name="Shape 13"/>
          <p:cNvSpPr/>
          <p:nvPr/>
        </p:nvSpPr>
        <p:spPr>
          <a:xfrm>
            <a:off x="8778240" y="4251960"/>
            <a:ext cx="2103120" cy="365760"/>
          </a:xfrm>
          <a:prstGeom prst="roundRect">
            <a:avLst>
              <a:gd name="adj" fmla="val 50000"/>
            </a:avLst>
          </a:prstGeom>
          <a:solidFill>
            <a:schemeClr val="accent3"/>
          </a:solidFill>
          <a:ln/>
        </p:spPr>
      </p:sp>
      <p:sp>
        <p:nvSpPr>
          <p:cNvPr id="19" name="Text 14"/>
          <p:cNvSpPr txBox="1"/>
          <p:nvPr/>
        </p:nvSpPr>
        <p:spPr>
          <a:xfrm>
            <a:off x="8778240" y="4251960"/>
            <a:ext cx="2103120" cy="365760"/>
          </a:xfrm>
          <a:prstGeom prst="rect">
            <a:avLst/>
          </a:prstGeom>
          <a:noFill/>
          <a:ln/>
        </p:spPr>
        <p:txBody>
          <a:bodyPr wrap="square" lIns="0" tIns="0" rIns="0" bIns="0" rtlCol="0" anchor="ctr"/>
          <a:lstStyle/>
          <a:p>
            <a:pPr algn="ctr" indent="0" marL="0">
              <a:buNone/>
            </a:pPr>
            <a:r>
              <a:rPr lang="en-US" sz="1200" b="1" dirty="0">
                <a:solidFill>
                  <a:srgbClr val="2A1700"/>
                </a:solidFill>
              </a:rPr>
              <a:t>Modified: not in the data</a:t>
            </a:r>
            <a:endParaRPr lang="en-US" sz="1200" dirty="0"/>
          </a:p>
        </p:txBody>
      </p:sp>
      <p:sp>
        <p:nvSpPr>
          <p:cNvPr id="20" name="Text 15"/>
          <p:cNvSpPr txBox="1"/>
          <p:nvPr/>
        </p:nvSpPr>
        <p:spPr>
          <a:xfrm>
            <a:off x="548640" y="6108192"/>
            <a:ext cx="7772400" cy="320040"/>
          </a:xfrm>
          <a:prstGeom prst="rect">
            <a:avLst/>
          </a:prstGeom>
          <a:noFill/>
          <a:ln/>
        </p:spPr>
        <p:txBody>
          <a:bodyPr wrap="square" lIns="0" tIns="0" rIns="0" bIns="0" rtlCol="0" anchor="ctr"/>
          <a:lstStyle/>
          <a:p>
            <a:pPr indent="0" marL="0">
              <a:buNone/>
            </a:pPr>
            <a:r>
              <a:rPr lang="en-US" sz="1400" b="1" dirty="0">
                <a:solidFill>
                  <a:srgbClr val="D9442F"/>
                </a:solidFill>
              </a:rPr>
              <a:t>Honest limits make the estimate more useful, not less.</a:t>
            </a:r>
            <a:endParaRPr lang="en-US" sz="1400" dirty="0"/>
          </a:p>
        </p:txBody>
      </p:sp>
      <p:sp>
        <p:nvSpPr>
          <p:cNvPr id="21" name="Text 16"/>
          <p:cNvSpPr txBox="1"/>
          <p:nvPr/>
        </p:nvSpPr>
        <p:spPr>
          <a:xfrm>
            <a:off x="4846320" y="6446520"/>
            <a:ext cx="5029200" cy="274320"/>
          </a:xfrm>
          <a:prstGeom prst="rect">
            <a:avLst/>
          </a:prstGeom>
          <a:noFill/>
          <a:ln/>
        </p:spPr>
        <p:txBody>
          <a:bodyPr wrap="square" lIns="0" tIns="0" rIns="0" bIns="0" rtlCol="0" anchor="ctr"/>
          <a:lstStyle/>
          <a:p>
            <a:pPr algn="r" indent="0" marL="0">
              <a:buNone/>
            </a:pPr>
            <a:r>
              <a:rPr lang="en-US" sz="1000" dirty="0">
                <a:solidFill>
                  <a:srgbClr val="5D687E"/>
                </a:solidFill>
              </a:rPr>
              <a:t>Beetle photo: Dilan Thisaru Photography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87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731520" y="822960"/>
            <a:ext cx="7315200" cy="1005840"/>
          </a:xfrm>
          <a:prstGeom prst="rect">
            <a:avLst/>
          </a:prstGeom>
          <a:noFill/>
          <a:ln/>
        </p:spPr>
        <p:txBody>
          <a:bodyPr wrap="square" lIns="0" tIns="0" rIns="0" bIns="0" rtlCol="0" anchor="ctr"/>
          <a:lstStyle/>
          <a:p>
            <a:pPr indent="0" marL="0">
              <a:buNone/>
            </a:pPr>
            <a:r>
              <a:rPr lang="en-US" sz="5400" b="1" dirty="0">
                <a:solidFill>
                  <a:schemeClr val="bg1"/>
                </a:solidFill>
              </a:rPr>
              <a:t>Thank you</a:t>
            </a:r>
            <a:endParaRPr lang="en-US" sz="5400" dirty="0"/>
          </a:p>
        </p:txBody>
      </p:sp>
      <p:sp>
        <p:nvSpPr>
          <p:cNvPr id="4" name="Text 1"/>
          <p:cNvSpPr txBox="1"/>
          <p:nvPr/>
        </p:nvSpPr>
        <p:spPr>
          <a:xfrm>
            <a:off x="731520" y="2011680"/>
            <a:ext cx="7315200" cy="457200"/>
          </a:xfrm>
          <a:prstGeom prst="rect">
            <a:avLst/>
          </a:prstGeom>
          <a:noFill/>
          <a:ln/>
        </p:spPr>
        <p:txBody>
          <a:bodyPr wrap="square" lIns="0" tIns="0" rIns="0" bIns="0" rtlCol="0" anchor="ctr"/>
          <a:lstStyle/>
          <a:p>
            <a:pPr indent="0" marL="0">
              <a:buNone/>
            </a:pPr>
            <a:r>
              <a:rPr lang="en-US" sz="2000" b="1" dirty="0">
                <a:solidFill>
                  <a:schemeClr val="accent3"/>
                </a:solidFill>
              </a:rPr>
              <a:t>Three things to remember</a:t>
            </a:r>
            <a:endParaRPr lang="en-US" sz="2000" dirty="0"/>
          </a:p>
        </p:txBody>
      </p:sp>
      <p:sp>
        <p:nvSpPr>
          <p:cNvPr id="5" name="Text 2"/>
          <p:cNvSpPr txBox="1"/>
          <p:nvPr/>
        </p:nvSpPr>
        <p:spPr>
          <a:xfrm>
            <a:off x="731520" y="2560320"/>
            <a:ext cx="5577840" cy="21031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F2F5FF"/>
                </a:solidFill>
              </a:rPr>
              <a:t>Age and equipment drive most of a used car's price</a:t>
            </a:r>
            <a:endParaRPr lang="en-US" sz="2000" dirty="0"/>
          </a:p>
          <a:p>
            <a:pPr marL="342900" indent="-342900">
              <a:spcAft>
                <a:spcPts val="1200"/>
              </a:spcAft>
              <a:buSzPct val="100000"/>
              <a:buChar char="•"/>
            </a:pPr>
            <a:r>
              <a:rPr lang="en-US" sz="2000" dirty="0">
                <a:solidFill>
                  <a:srgbClr val="F2F5FF"/>
                </a:solidFill>
              </a:rPr>
              <a:t>Our estimator gives a price, a likely range and a fairness check</a:t>
            </a:r>
            <a:endParaRPr lang="en-US" sz="2000" dirty="0"/>
          </a:p>
          <a:p>
            <a:pPr marL="342900" indent="-342900">
              <a:spcAft>
                <a:spcPts val="1200"/>
              </a:spcAft>
              <a:buSzPct val="100000"/>
              <a:buChar char="•"/>
            </a:pPr>
            <a:r>
              <a:rPr lang="en-US" sz="2000" dirty="0">
                <a:solidFill>
                  <a:srgbClr val="F2F5FF"/>
                </a:solidFill>
              </a:rPr>
              <a:t>We show our doubt, because an honest range is more useful</a:t>
            </a:r>
            <a:endParaRPr lang="en-US" sz="2000" dirty="0"/>
          </a:p>
        </p:txBody>
      </p:sp>
      <p:sp>
        <p:nvSpPr>
          <p:cNvPr id="6" name="Text 3"/>
          <p:cNvSpPr txBox="1"/>
          <p:nvPr/>
        </p:nvSpPr>
        <p:spPr>
          <a:xfrm>
            <a:off x="731520" y="4754880"/>
            <a:ext cx="4572000" cy="731520"/>
          </a:xfrm>
          <a:prstGeom prst="rect">
            <a:avLst/>
          </a:prstGeom>
          <a:noFill/>
          <a:ln/>
        </p:spPr>
        <p:txBody>
          <a:bodyPr wrap="square" lIns="0" tIns="0" rIns="0" bIns="0" rtlCol="0" anchor="ctr"/>
          <a:lstStyle/>
          <a:p>
            <a:pPr indent="0" marL="0">
              <a:buNone/>
            </a:pPr>
            <a:r>
              <a:rPr lang="en-US" sz="3600" b="1" dirty="0">
                <a:solidFill>
                  <a:schemeClr val="accent3"/>
                </a:solidFill>
              </a:rPr>
              <a:t>Questions?</a:t>
            </a:r>
            <a:endParaRPr lang="en-US" sz="3600" dirty="0"/>
          </a:p>
        </p:txBody>
      </p:sp>
      <p:sp>
        <p:nvSpPr>
          <p:cNvPr id="7" name="Shape 4"/>
          <p:cNvSpPr/>
          <p:nvPr/>
        </p:nvSpPr>
        <p:spPr>
          <a:xfrm>
            <a:off x="731520" y="5623560"/>
            <a:ext cx="1417320" cy="640080"/>
          </a:xfrm>
          <a:prstGeom prst="roundRect">
            <a:avLst>
              <a:gd name="adj" fmla="val 17143"/>
            </a:avLst>
          </a:prstGeom>
          <a:solidFill>
            <a:schemeClr val="accent1"/>
          </a:solidFill>
          <a:ln/>
        </p:spPr>
      </p:sp>
      <p:sp>
        <p:nvSpPr>
          <p:cNvPr id="8" name="Text 5"/>
          <p:cNvSpPr txBox="1"/>
          <p:nvPr/>
        </p:nvSpPr>
        <p:spPr>
          <a:xfrm>
            <a:off x="731520" y="5623560"/>
            <a:ext cx="1417320" cy="640080"/>
          </a:xfrm>
          <a:prstGeom prst="rect">
            <a:avLst/>
          </a:prstGeom>
          <a:noFill/>
          <a:ln/>
        </p:spPr>
        <p:txBody>
          <a:bodyPr wrap="square" lIns="0" tIns="0" rIns="0" bIns="0" rtlCol="0" anchor="ctr"/>
          <a:lstStyle/>
          <a:p>
            <a:pPr algn="ctr" indent="0" marL="0">
              <a:buNone/>
            </a:pPr>
            <a:r>
              <a:rPr lang="en-US" sz="1400" b="1" dirty="0">
                <a:solidFill>
                  <a:srgbClr val="FFFFFF"/>
                </a:solidFill>
              </a:rPr>
              <a:t>Nirodha</a:t>
            </a:r>
            <a:endParaRPr lang="en-US" sz="1400" dirty="0"/>
          </a:p>
        </p:txBody>
      </p:sp>
      <p:sp>
        <p:nvSpPr>
          <p:cNvPr id="9" name="Shape 6"/>
          <p:cNvSpPr/>
          <p:nvPr/>
        </p:nvSpPr>
        <p:spPr>
          <a:xfrm>
            <a:off x="2286000" y="5623560"/>
            <a:ext cx="1417320" cy="640080"/>
          </a:xfrm>
          <a:prstGeom prst="roundRect">
            <a:avLst>
              <a:gd name="adj" fmla="val 17143"/>
            </a:avLst>
          </a:prstGeom>
          <a:solidFill>
            <a:schemeClr val="accent2"/>
          </a:solidFill>
          <a:ln/>
        </p:spPr>
      </p:sp>
      <p:sp>
        <p:nvSpPr>
          <p:cNvPr id="10" name="Text 7"/>
          <p:cNvSpPr txBox="1"/>
          <p:nvPr/>
        </p:nvSpPr>
        <p:spPr>
          <a:xfrm>
            <a:off x="2286000" y="5623560"/>
            <a:ext cx="1417320" cy="640080"/>
          </a:xfrm>
          <a:prstGeom prst="rect">
            <a:avLst/>
          </a:prstGeom>
          <a:noFill/>
          <a:ln/>
        </p:spPr>
        <p:txBody>
          <a:bodyPr wrap="square" lIns="0" tIns="0" rIns="0" bIns="0" rtlCol="0" anchor="ctr"/>
          <a:lstStyle/>
          <a:p>
            <a:pPr algn="ctr" indent="0" marL="0">
              <a:buNone/>
            </a:pPr>
            <a:r>
              <a:rPr lang="en-US" sz="1400" b="1" dirty="0">
                <a:solidFill>
                  <a:srgbClr val="062B28"/>
                </a:solidFill>
              </a:rPr>
              <a:t>Wijerathna</a:t>
            </a:r>
            <a:endParaRPr lang="en-US" sz="1400" dirty="0"/>
          </a:p>
        </p:txBody>
      </p:sp>
      <p:sp>
        <p:nvSpPr>
          <p:cNvPr id="11" name="Shape 8"/>
          <p:cNvSpPr/>
          <p:nvPr/>
        </p:nvSpPr>
        <p:spPr>
          <a:xfrm>
            <a:off x="3840480" y="5623560"/>
            <a:ext cx="1417320" cy="640080"/>
          </a:xfrm>
          <a:prstGeom prst="roundRect">
            <a:avLst>
              <a:gd name="adj" fmla="val 17143"/>
            </a:avLst>
          </a:prstGeom>
          <a:solidFill>
            <a:schemeClr val="accent3"/>
          </a:solidFill>
          <a:ln/>
        </p:spPr>
      </p:sp>
      <p:sp>
        <p:nvSpPr>
          <p:cNvPr id="12" name="Text 9"/>
          <p:cNvSpPr txBox="1"/>
          <p:nvPr/>
        </p:nvSpPr>
        <p:spPr>
          <a:xfrm>
            <a:off x="3840480" y="5623560"/>
            <a:ext cx="1417320" cy="640080"/>
          </a:xfrm>
          <a:prstGeom prst="rect">
            <a:avLst/>
          </a:prstGeom>
          <a:noFill/>
          <a:ln/>
        </p:spPr>
        <p:txBody>
          <a:bodyPr wrap="square" lIns="0" tIns="0" rIns="0" bIns="0" rtlCol="0" anchor="ctr"/>
          <a:lstStyle/>
          <a:p>
            <a:pPr algn="ctr" indent="0" marL="0">
              <a:buNone/>
            </a:pPr>
            <a:r>
              <a:rPr lang="en-US" sz="1400" b="1" dirty="0">
                <a:solidFill>
                  <a:srgbClr val="2A1700"/>
                </a:solidFill>
              </a:rPr>
              <a:t>Ranasinghe</a:t>
            </a:r>
            <a:endParaRPr lang="en-US" sz="1400" dirty="0"/>
          </a:p>
        </p:txBody>
      </p:sp>
      <p:sp>
        <p:nvSpPr>
          <p:cNvPr id="13" name="Shape 10"/>
          <p:cNvSpPr/>
          <p:nvPr/>
        </p:nvSpPr>
        <p:spPr>
          <a:xfrm>
            <a:off x="5394960" y="5623560"/>
            <a:ext cx="1417320" cy="640080"/>
          </a:xfrm>
          <a:prstGeom prst="roundRect">
            <a:avLst>
              <a:gd name="adj" fmla="val 17143"/>
            </a:avLst>
          </a:prstGeom>
          <a:solidFill>
            <a:schemeClr val="accent4"/>
          </a:solidFill>
          <a:ln/>
        </p:spPr>
      </p:sp>
      <p:sp>
        <p:nvSpPr>
          <p:cNvPr id="14" name="Text 11"/>
          <p:cNvSpPr txBox="1"/>
          <p:nvPr/>
        </p:nvSpPr>
        <p:spPr>
          <a:xfrm>
            <a:off x="5394960" y="5623560"/>
            <a:ext cx="1417320" cy="640080"/>
          </a:xfrm>
          <a:prstGeom prst="rect">
            <a:avLst/>
          </a:prstGeom>
          <a:noFill/>
          <a:ln/>
        </p:spPr>
        <p:txBody>
          <a:bodyPr wrap="square" lIns="0" tIns="0" rIns="0" bIns="0" rtlCol="0" anchor="ctr"/>
          <a:lstStyle/>
          <a:p>
            <a:pPr algn="ctr" indent="0" marL="0">
              <a:buNone/>
            </a:pPr>
            <a:r>
              <a:rPr lang="en-US" sz="1400" b="1" dirty="0">
                <a:solidFill>
                  <a:srgbClr val="2A0A05"/>
                </a:solidFill>
              </a:rPr>
              <a:t>Gunasekara</a:t>
            </a:r>
            <a:endParaRPr lang="en-US" sz="1400" dirty="0"/>
          </a:p>
        </p:txBody>
      </p:sp>
    </p:spTree>
  </p:cSld>
  <p:clrMapOvr>
    <a:masterClrMapping/>
  </p:clrMapOvr>
</p:sld>
</file>

<file path=ppt/theme/theme1.xml><?xml version="1.0" encoding="utf-8"?>
<a:theme xmlns:a="http://schemas.openxmlformats.org/drawingml/2006/main" name="AutoWorth">
  <a:themeElements>
    <a:clrScheme name="AutoWorth">
      <a:dk1>
        <a:srgbClr val="0B1220"/>
      </a:dk1>
      <a:lt1>
        <a:srgbClr val="FFFFFF"/>
      </a:lt1>
      <a:dk2>
        <a:srgbClr val="101A3A"/>
      </a:dk2>
      <a:lt2>
        <a:srgbClr val="F3F6FC"/>
      </a:lt2>
      <a:accent1>
        <a:srgbClr val="2F6BFF"/>
      </a:accent1>
      <a:accent2>
        <a:srgbClr val="12B5A6"/>
      </a:accent2>
      <a:accent3>
        <a:srgbClr val="FFB020"/>
      </a:accent3>
      <a:accent4>
        <a:srgbClr val="FF6B57"/>
      </a:accent4>
      <a:accent5>
        <a:srgbClr val="7C5CFF"/>
      </a:accent5>
      <a:accent6>
        <a:srgbClr val="5AC8FA"/>
      </a:accent6>
      <a:hlink>
        <a:srgbClr val="2F6BFF"/>
      </a:hlink>
      <a:folHlink>
        <a:srgbClr val="7C5CFF"/>
      </a:folHlink>
    </a:clrScheme>
    <a:fontScheme name="AutoWort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IT3051 Fundamentals of Data Mining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Used car prices, explained</dc:title>
  <dc:subject>PptxGenJS Presentation</dc:subject>
  <dc:creator>Group KND_11</dc:creator>
  <cp:lastModifiedBy>Group KND_11</cp:lastModifiedBy>
  <cp:revision>1</cp:revision>
  <dcterms:created xsi:type="dcterms:W3CDTF">2026-10-08T12:44:55Z</dcterms:created>
  <dcterms:modified xsi:type="dcterms:W3CDTF">2026-10-08T12:44:55Z</dcterms:modified>
</cp:coreProperties>
</file>